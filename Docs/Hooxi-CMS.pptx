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4" r:id="rId19"/>
    <p:sldId id="294" r:id="rId20"/>
    <p:sldId id="285" r:id="rId21"/>
    <p:sldId id="286" r:id="rId22"/>
    <p:sldId id="283" r:id="rId23"/>
    <p:sldId id="287" r:id="rId24"/>
    <p:sldId id="291" r:id="rId25"/>
    <p:sldId id="288" r:id="rId26"/>
    <p:sldId id="289" r:id="rId27"/>
    <p:sldId id="290" r:id="rId28"/>
    <p:sldId id="292" r:id="rId29"/>
    <p:sldId id="293" r:id="rId30"/>
    <p:sldId id="281" r:id="rId31"/>
    <p:sldId id="263" r:id="rId32"/>
    <p:sldId id="282" r:id="rId33"/>
    <p:sldId id="259" r:id="rId34"/>
    <p:sldId id="265" r:id="rId35"/>
    <p:sldId id="264" r:id="rId36"/>
    <p:sldId id="266" r:id="rId37"/>
    <p:sldId id="260" r:id="rId38"/>
    <p:sldId id="261" r:id="rId39"/>
    <p:sldId id="262" r:id="rId40"/>
    <p:sldId id="295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39"/>
    <p:restoredTop sz="94659"/>
  </p:normalViewPr>
  <p:slideViewPr>
    <p:cSldViewPr snapToGrid="0">
      <p:cViewPr>
        <p:scale>
          <a:sx n="142" d="100"/>
          <a:sy n="142" d="100"/>
        </p:scale>
        <p:origin x="1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11E5B7-483A-CBE5-440E-633255AA3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45B504-026E-0A71-C9D5-2485073A9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6DCA3E-C442-CCA2-BBCD-511D4FAD1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011DD-5E79-8F4A-824C-00A619B92E4E}" type="datetimeFigureOut">
              <a:rPr kumimoji="1" lang="ko-KR" altLang="en-US" smtClean="0"/>
              <a:t>2026. 7. 13.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F4BCE4-77C5-96AA-B570-FA7890E35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5645CC-2D99-0806-6F2D-A7C2F65BD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0C8CA-BBAD-1545-9F98-4A999B3B9FF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31276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F5B88F-5C33-3E70-7104-1EC1C990E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18D6F6-BD2C-464E-88C1-840E6E143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011DD-5E79-8F4A-824C-00A619B92E4E}" type="datetimeFigureOut">
              <a:rPr kumimoji="1" lang="ko-KR" altLang="en-US" smtClean="0"/>
              <a:t>2026. 7. 13.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CD170-CB0D-2E02-3C8E-8A0D51B5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20A206-A815-02EC-943A-5D85BCC34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0C8CA-BBAD-1545-9F98-4A999B3B9FF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76377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EE4499A-71A4-2C9E-DDB0-3975AB70E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5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987FA2-F01C-61CA-BEF5-8DFC25FAC6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  <a:latin typeface="Paperlogy 4 Regular" pitchFamily="2" charset="-127"/>
                <a:ea typeface="Paperlogy 4 Regular" pitchFamily="2" charset="-127"/>
              </a:defRPr>
            </a:lvl1pPr>
          </a:lstStyle>
          <a:p>
            <a:fld id="{846011DD-5E79-8F4A-824C-00A619B92E4E}" type="datetimeFigureOut">
              <a:rPr kumimoji="1" lang="ko-KR" altLang="en-US" smtClean="0"/>
              <a:pPr/>
              <a:t>2026. 7. 13.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8681BD-087D-0D16-6E10-D280C9FD2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  <a:latin typeface="Paperlogy 4 Regular" pitchFamily="2" charset="-127"/>
                <a:ea typeface="Paperlogy 4 Regular" pitchFamily="2" charset="-127"/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C18CC5-5A27-732D-29B0-F6496580EC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Paperlogy 4 Regular" pitchFamily="2" charset="-127"/>
                <a:ea typeface="Paperlogy 4 Regular" pitchFamily="2" charset="-127"/>
              </a:defRPr>
            </a:lvl1pPr>
          </a:lstStyle>
          <a:p>
            <a:fld id="{32B0C8CA-BBAD-1545-9F98-4A999B3B9FF4}" type="slidenum">
              <a:rPr kumimoji="1" lang="ko-KR" altLang="en-US" smtClean="0"/>
              <a:pPr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08568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Paperlogy 4 Regular" pitchFamily="2" charset="-127"/>
          <a:ea typeface="Paperlogy 4 Regular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AD7940-D713-8F82-3741-7C98A33E3E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kumimoji="1" lang="en-US" altLang="ko-KR" dirty="0" err="1"/>
              <a:t>Hooxi</a:t>
            </a:r>
            <a:r>
              <a:rPr kumimoji="1" lang="en-US" altLang="ko-KR" dirty="0"/>
              <a:t> - CMS</a:t>
            </a:r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656369-1495-0828-8C33-AFD462BD03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r>
              <a:rPr kumimoji="1" lang="ko-KR" altLang="en-US" dirty="0" err="1">
                <a:latin typeface="Paperlogy 4 Regular" pitchFamily="2" charset="-127"/>
                <a:ea typeface="Paperlogy 4 Regular" pitchFamily="2" charset="-127"/>
              </a:rPr>
              <a:t>운수사</a:t>
            </a:r>
            <a:r>
              <a:rPr kumimoji="1" lang="ko-KR" altLang="en-US" dirty="0">
                <a:latin typeface="Paperlogy 4 Regular" pitchFamily="2" charset="-127"/>
                <a:ea typeface="Paperlogy 4 Regular" pitchFamily="2" charset="-127"/>
              </a:rPr>
              <a:t> 고객관리를 위한 툴로 관련된 데이터 처리만 진행 한다</a:t>
            </a:r>
            <a:r>
              <a:rPr kumimoji="1" lang="en-US" altLang="ko-KR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r>
              <a:rPr kumimoji="1" lang="ko-KR" altLang="en-US" dirty="0">
                <a:latin typeface="Paperlogy 4 Regular" pitchFamily="2" charset="-127"/>
                <a:ea typeface="Paperlogy 4 Regular" pitchFamily="2" charset="-127"/>
              </a:rPr>
              <a:t>개발실에서 </a:t>
            </a:r>
            <a:r>
              <a:rPr kumimoji="1" lang="en-US" altLang="ko-KR" dirty="0">
                <a:latin typeface="Paperlogy 4 Regular" pitchFamily="2" charset="-127"/>
                <a:ea typeface="Paperlogy 4 Regular" pitchFamily="2" charset="-127"/>
              </a:rPr>
              <a:t>DB </a:t>
            </a:r>
            <a:r>
              <a:rPr kumimoji="1" lang="ko-KR" altLang="en-US" dirty="0" err="1">
                <a:latin typeface="Paperlogy 4 Regular" pitchFamily="2" charset="-127"/>
                <a:ea typeface="Paperlogy 4 Regular" pitchFamily="2" charset="-127"/>
              </a:rPr>
              <a:t>를</a:t>
            </a:r>
            <a:r>
              <a:rPr kumimoji="1" lang="ko-KR" altLang="en-US" dirty="0">
                <a:latin typeface="Paperlogy 4 Regular" pitchFamily="2" charset="-127"/>
                <a:ea typeface="Paperlogy 4 Regular" pitchFamily="2" charset="-127"/>
              </a:rPr>
              <a:t> 가져가서 차후 고도화 가능할 수 있게 한다</a:t>
            </a:r>
            <a:r>
              <a:rPr kumimoji="1" lang="en-US" altLang="ko-KR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r>
              <a:rPr kumimoji="1" lang="ko-KR" altLang="en-US" dirty="0">
                <a:latin typeface="Paperlogy 4 Regular" pitchFamily="2" charset="-127"/>
                <a:ea typeface="Paperlogy 4 Regular" pitchFamily="2" charset="-127"/>
              </a:rPr>
              <a:t>고객사 영업 관리 현황과 이슈 사항에 중점을 둔다</a:t>
            </a:r>
            <a:r>
              <a:rPr kumimoji="1" lang="en-US" altLang="ko-KR" dirty="0">
                <a:latin typeface="Paperlogy 4 Regular" pitchFamily="2" charset="-127"/>
                <a:ea typeface="Paperlogy 4 Regular" pitchFamily="2" charset="-127"/>
              </a:rPr>
              <a:t>.</a:t>
            </a:r>
            <a:endParaRPr kumimoji="1" lang="ko-KR" altLang="en-US" dirty="0">
              <a:latin typeface="Paperlogy 4 Regular" pitchFamily="2" charset="-127"/>
              <a:ea typeface="Paperlogy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8288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6B599-005D-C201-C36B-B458DB71E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BF16038-4FF6-21A2-C714-77A94E85E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877480"/>
              </p:ext>
            </p:extLst>
          </p:nvPr>
        </p:nvGraphicFramePr>
        <p:xfrm>
          <a:off x="838199" y="154900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43040757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7340691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8308376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540511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265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2747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080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64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6298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540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872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277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325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029259-96DD-D355-10DB-C8665CAC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고객사 대시 보드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FA7CFA-F3EA-ECC5-5EAE-D2177CF9EC7C}"/>
              </a:ext>
            </a:extLst>
          </p:cNvPr>
          <p:cNvSpPr txBox="1"/>
          <p:nvPr/>
        </p:nvSpPr>
        <p:spPr>
          <a:xfrm>
            <a:off x="838199" y="1127252"/>
            <a:ext cx="105155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시스템 접속 시 노출되는 메인 화면으로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핵심 지표와 개인별 당일 업무 현황 파악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4BB8C6-5E11-89CB-C059-F8424EFC242C}"/>
              </a:ext>
            </a:extLst>
          </p:cNvPr>
          <p:cNvSpPr txBox="1"/>
          <p:nvPr/>
        </p:nvSpPr>
        <p:spPr>
          <a:xfrm>
            <a:off x="1029468" y="1734511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ko-KR" sz="1200" b="1" dirty="0"/>
              <a:t>React</a:t>
            </a:r>
            <a:r>
              <a:rPr lang="ko-KR" altLang="en-US" sz="1200" b="1" dirty="0"/>
              <a:t>에서 카카오톡 채널 상담 기능 구현</a:t>
            </a:r>
          </a:p>
          <a:p>
            <a:endParaRPr lang="en-US" altLang="ko-KR" sz="1200" dirty="0"/>
          </a:p>
          <a:p>
            <a:r>
              <a:rPr lang="ko-KR" altLang="en-US" sz="1200" dirty="0" err="1"/>
              <a:t>https</a:t>
            </a:r>
            <a:r>
              <a:rPr lang="ko-KR" altLang="en-US" sz="1200" dirty="0"/>
              <a:t>://</a:t>
            </a:r>
            <a:r>
              <a:rPr lang="ko-KR" altLang="en-US" sz="1200" dirty="0" err="1"/>
              <a:t>velog.io</a:t>
            </a:r>
            <a:r>
              <a:rPr lang="ko-KR" altLang="en-US" sz="1200" dirty="0"/>
              <a:t>/@cjw4032/React%EC%97%90%EC%84%9C-%EC%B9%B4%EC%B9%B4%EC%98%A4%ED%86%A1-%EC%B1%84%EB%84%90-%EC%83%81%EB%8B%B4-%EA%B8%B0%EB%8A%A5-%EA%B5%AC%ED%98%84-304m9pb4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791BCC-245C-A316-7FBA-716F7E8EAB74}"/>
              </a:ext>
            </a:extLst>
          </p:cNvPr>
          <p:cNvSpPr txBox="1"/>
          <p:nvPr/>
        </p:nvSpPr>
        <p:spPr>
          <a:xfrm>
            <a:off x="1029468" y="3351170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/>
              <a:t>카카오톡 비즈니스 채널과 </a:t>
            </a:r>
            <a:r>
              <a:rPr lang="ko-KR" altLang="en-US" sz="1200" b="1" dirty="0" err="1"/>
              <a:t>상담톡</a:t>
            </a:r>
            <a:r>
              <a:rPr lang="ko-KR" altLang="en-US" sz="1200" b="1" dirty="0"/>
              <a:t> 준비</a:t>
            </a:r>
          </a:p>
          <a:p>
            <a:r>
              <a:rPr lang="ko-KR" altLang="en-US" sz="1200" dirty="0" err="1"/>
              <a:t>https</a:t>
            </a:r>
            <a:r>
              <a:rPr lang="ko-KR" altLang="en-US" sz="1200" dirty="0"/>
              <a:t>://</a:t>
            </a:r>
            <a:r>
              <a:rPr lang="ko-KR" altLang="en-US" sz="1200" dirty="0" err="1"/>
              <a:t>help.matrixcloud.kr</a:t>
            </a:r>
            <a:r>
              <a:rPr lang="ko-KR" altLang="en-US" sz="1200" dirty="0"/>
              <a:t>/</a:t>
            </a:r>
            <a:r>
              <a:rPr lang="ko-KR" altLang="en-US" sz="1200" dirty="0" err="1"/>
              <a:t>hc</a:t>
            </a:r>
            <a:r>
              <a:rPr lang="ko-KR" altLang="en-US" sz="1200" dirty="0"/>
              <a:t>/</a:t>
            </a:r>
            <a:r>
              <a:rPr lang="ko-KR" altLang="en-US" sz="1200" dirty="0" err="1"/>
              <a:t>ko</a:t>
            </a:r>
            <a:r>
              <a:rPr lang="ko-KR" altLang="en-US" sz="1200" dirty="0"/>
              <a:t>/</a:t>
            </a:r>
            <a:r>
              <a:rPr lang="ko-KR" altLang="en-US" sz="1200" dirty="0" err="1"/>
              <a:t>articles</a:t>
            </a:r>
            <a:r>
              <a:rPr lang="ko-KR" altLang="en-US" sz="1200" dirty="0"/>
              <a:t>/9163813334671-%EC%B9%B4%EC%B9%B4%EC%98%A4%ED%86%A1-%EB%B9%84%EC%A6%88%EB%8B%88%EC%8A%A4-%EC%B1%84%EB%84%90%EA%B3%BC-%EC%83%81%EB%8B%B4%ED%86%A1-%EC%A4%80%EB%B9%84</a:t>
            </a:r>
          </a:p>
        </p:txBody>
      </p:sp>
    </p:spTree>
    <p:extLst>
      <p:ext uri="{BB962C8B-B14F-4D97-AF65-F5344CB8AC3E}">
        <p14:creationId xmlns:p14="http://schemas.microsoft.com/office/powerpoint/2010/main" val="1583561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AE20E6-1E59-5899-E33F-F06B342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ko-KR" altLang="en-US" dirty="0"/>
              <a:t>고객사 마스터 </a:t>
            </a:r>
            <a:r>
              <a:rPr kumimoji="1" lang="en-US" altLang="ko-KR" dirty="0"/>
              <a:t>–</a:t>
            </a:r>
            <a:r>
              <a:rPr kumimoji="1" lang="ko-KR" altLang="en-US" dirty="0"/>
              <a:t> </a:t>
            </a:r>
            <a:r>
              <a:rPr lang="ko-KR" altLang="en-US" dirty="0"/>
              <a:t>데이터베이스 스키마 정의</a:t>
            </a:r>
            <a:endParaRPr kumimoji="1"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B68BDCD-8D79-BF76-4307-5E2BAD357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154523"/>
              </p:ext>
            </p:extLst>
          </p:nvPr>
        </p:nvGraphicFramePr>
        <p:xfrm>
          <a:off x="838200" y="1584985"/>
          <a:ext cx="10515600" cy="3922681"/>
        </p:xfrm>
        <a:graphic>
          <a:graphicData uri="http://schemas.openxmlformats.org/drawingml/2006/table">
            <a:tbl>
              <a:tblPr/>
              <a:tblGrid>
                <a:gridCol w="2649279">
                  <a:extLst>
                    <a:ext uri="{9D8B030D-6E8A-4147-A177-3AD203B41FA5}">
                      <a16:colId xmlns:a16="http://schemas.microsoft.com/office/drawing/2014/main" val="2107822411"/>
                    </a:ext>
                  </a:extLst>
                </a:gridCol>
                <a:gridCol w="2488019">
                  <a:extLst>
                    <a:ext uri="{9D8B030D-6E8A-4147-A177-3AD203B41FA5}">
                      <a16:colId xmlns:a16="http://schemas.microsoft.com/office/drawing/2014/main" val="3719864384"/>
                    </a:ext>
                  </a:extLst>
                </a:gridCol>
                <a:gridCol w="5378302">
                  <a:extLst>
                    <a:ext uri="{9D8B030D-6E8A-4147-A177-3AD203B41FA5}">
                      <a16:colId xmlns:a16="http://schemas.microsoft.com/office/drawing/2014/main" val="147657775"/>
                    </a:ext>
                  </a:extLst>
                </a:gridCol>
              </a:tblGrid>
              <a:tr h="3699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테이블 </a:t>
                      </a:r>
                      <a:r>
                        <a:rPr lang="ko-KR" altLang="en-US" sz="14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물리명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테이블 </a:t>
                      </a:r>
                      <a:r>
                        <a:rPr lang="ko-KR" altLang="en-US" sz="14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논리명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핵심 역할 및 설명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480860"/>
                  </a:ext>
                </a:extLst>
              </a:tr>
              <a:tr h="6132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tb_client</a:t>
                      </a:r>
                      <a:endParaRPr lang="en" sz="14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고객사 마스터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법인 정보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연락처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계약 상태 등 </a:t>
                      </a: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CRM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기본 데이터 관장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4427622"/>
                  </a:ext>
                </a:extLst>
              </a:tr>
              <a:tr h="8565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tb_asset</a:t>
                      </a:r>
                      <a:endParaRPr lang="en" sz="14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통합 자산 마스터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차량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설비 제원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관제 연동 여부 및 외부 기관 </a:t>
                      </a: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인증 계정 통합 관리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520351"/>
                  </a:ext>
                </a:extLst>
              </a:tr>
              <a:tr h="6132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tb_activity_history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컨택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 및 활동 이력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타임라인 기반 상호작용 기록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리텐션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 단계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이슈 상태 추적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1737675"/>
                  </a:ext>
                </a:extLst>
              </a:tr>
              <a:tr h="6132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tb_project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프로젝트 마스터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묶음 감축 사업의 진행 상태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인증 기간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예상 발급일 기준 데이터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0582112"/>
                  </a:ext>
                </a:extLst>
              </a:tr>
              <a:tr h="85650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tb_project_client_map</a:t>
                      </a:r>
                      <a:endParaRPr lang="en" sz="14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프로젝트 정산 매핑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사업별 참여 고객사의 배분율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성공 </a:t>
                      </a:r>
                      <a:r>
                        <a:rPr lang="ko-KR" altLang="en-US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보수율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개별 예상 정산 금액 추적</a:t>
                      </a:r>
                    </a:p>
                  </a:txBody>
                  <a:tcPr marL="56219" marR="84328" marT="84328" marB="562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428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61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C1161A-34C1-D5E2-BDA3-D9EEB20A5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ko-KR" altLang="en-US" dirty="0"/>
              <a:t>고객사 마스터 </a:t>
            </a:r>
            <a:r>
              <a:rPr kumimoji="1" lang="en-US" altLang="ko-KR" dirty="0"/>
              <a:t>–</a:t>
            </a:r>
            <a:r>
              <a:rPr kumimoji="1" lang="ko-KR" altLang="en-US" dirty="0"/>
              <a:t> </a:t>
            </a:r>
            <a:r>
              <a:rPr lang="en" altLang="ko-KR" dirty="0"/>
              <a:t>(</a:t>
            </a:r>
            <a:r>
              <a:rPr lang="en" altLang="ko-KR" dirty="0" err="1"/>
              <a:t>tb_client</a:t>
            </a:r>
            <a:r>
              <a:rPr lang="en" altLang="ko-KR" dirty="0"/>
              <a:t>)</a:t>
            </a:r>
            <a:endParaRPr kumimoji="1"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4F20CE8-85A3-2F3F-015A-C06588F5C3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181519"/>
              </p:ext>
            </p:extLst>
          </p:nvPr>
        </p:nvGraphicFramePr>
        <p:xfrm>
          <a:off x="838200" y="1520171"/>
          <a:ext cx="10515600" cy="4372339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9396919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23017855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0788987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687753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721964401"/>
                    </a:ext>
                  </a:extLst>
                </a:gridCol>
              </a:tblGrid>
              <a:tr h="1208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 dirty="0" err="1">
                          <a:solidFill>
                            <a:schemeClr val="bg1"/>
                          </a:solidFill>
                          <a:effectLst/>
                          <a:latin typeface="Helvetica" pitchFamily="2" charset="0"/>
                        </a:rPr>
                        <a:t>물리명</a:t>
                      </a:r>
                      <a:endParaRPr lang="ko-KR" altLang="en-US" sz="8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0984" marR="209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 dirty="0" err="1">
                          <a:solidFill>
                            <a:schemeClr val="bg1"/>
                          </a:solidFill>
                          <a:effectLst/>
                          <a:latin typeface="Helvetica" pitchFamily="2" charset="0"/>
                        </a:rPr>
                        <a:t>논리명</a:t>
                      </a:r>
                      <a:endParaRPr lang="ko-KR" altLang="en-US" sz="8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0984" marR="209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>
                          <a:solidFill>
                            <a:schemeClr val="bg1"/>
                          </a:solidFill>
                          <a:effectLst/>
                          <a:latin typeface="Helvetica" pitchFamily="2" charset="0"/>
                        </a:rPr>
                        <a:t>데이터 타입</a:t>
                      </a:r>
                      <a:endParaRPr lang="ko-KR" altLang="en-US" sz="80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0984" marR="209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>
                          <a:solidFill>
                            <a:schemeClr val="bg1"/>
                          </a:solidFill>
                          <a:effectLst/>
                          <a:latin typeface="Helvetica" pitchFamily="2" charset="0"/>
                        </a:rPr>
                        <a:t>필수</a:t>
                      </a:r>
                      <a:endParaRPr lang="ko-KR" altLang="en-US" sz="80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0984" marR="209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 dirty="0">
                          <a:solidFill>
                            <a:schemeClr val="bg1"/>
                          </a:solidFill>
                          <a:effectLst/>
                          <a:latin typeface="Helvetica" pitchFamily="2" charset="0"/>
                        </a:rPr>
                        <a:t>설명</a:t>
                      </a:r>
                      <a:endParaRPr lang="ko-KR" altLang="en-US" sz="800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20984" marR="20984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446189"/>
                  </a:ext>
                </a:extLst>
              </a:tr>
              <a:tr h="12758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client_id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고객사 식별자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VARCHAR(50)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 dirty="0" err="1">
                          <a:effectLst/>
                          <a:latin typeface="Helvetica" pitchFamily="2" charset="0"/>
                        </a:rPr>
                        <a:t>기본키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PK)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456054"/>
                  </a:ext>
                </a:extLst>
              </a:tr>
              <a:tr h="3693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client_type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고객사 구분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VARCHAR(20)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TRANSPORT(</a:t>
                      </a:r>
                      <a:r>
                        <a:rPr lang="ko-KR" altLang="en-US" sz="800" dirty="0" err="1">
                          <a:effectLst/>
                          <a:latin typeface="Helvetica" pitchFamily="2" charset="0"/>
                        </a:rPr>
                        <a:t>운수사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) 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또는 </a:t>
                      </a: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FACILITY(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건물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/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농장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598716"/>
                  </a:ext>
                </a:extLst>
              </a:tr>
              <a:tr h="12758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company_name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고객사명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VARCHAR(100)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법인명 또는 상호명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6923"/>
                  </a:ext>
                </a:extLst>
              </a:tr>
              <a:tr h="12758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biz_reg_no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사업자등록번호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VARCHAR(20)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하이픈 제외 숫자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470305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region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지역</a:t>
                      </a:r>
                      <a:r>
                        <a:rPr lang="en-US" altLang="ko-KR" sz="800"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권역</a:t>
                      </a:r>
                      <a:r>
                        <a:rPr lang="en-US" altLang="ko-KR" sz="800">
                          <a:effectLst/>
                          <a:latin typeface="Helvetica" pitchFamily="2" charset="0"/>
                        </a:rPr>
                        <a:t>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VARCHAR(20)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N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800">
                          <a:effectLst/>
                          <a:latin typeface="Helvetica" pitchFamily="2" charset="0"/>
                        </a:rPr>
                      </a:br>
                      <a:endParaRPr lang="ko-KR" altLang="en-US" sz="80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076876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address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사업장 주소지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br>
                        <a:rPr lang="ko-KR" altLang="en-US" sz="800">
                          <a:effectLst/>
                          <a:latin typeface="Helvetica" pitchFamily="2" charset="0"/>
                        </a:rPr>
                      </a:br>
                      <a:endParaRPr lang="ko-KR" altLang="en-US" sz="80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800">
                          <a:effectLst/>
                          <a:latin typeface="Helvetica" pitchFamily="2" charset="0"/>
                        </a:rPr>
                      </a:br>
                      <a:endParaRPr lang="ko-KR" altLang="en-US" sz="80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647938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ceo_name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대표자명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VARCHAR(50)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800">
                          <a:effectLst/>
                          <a:latin typeface="Helvetica" pitchFamily="2" charset="0"/>
                        </a:rPr>
                      </a:br>
                      <a:endParaRPr lang="ko-KR" altLang="en-US" sz="80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020864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ceo_contact_phone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대표 연락처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VARCHAR(20)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800">
                          <a:effectLst/>
                          <a:latin typeface="Helvetica" pitchFamily="2" charset="0"/>
                        </a:rPr>
                      </a:br>
                      <a:endParaRPr lang="ko-KR" altLang="en-US" sz="80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8361408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ceo_contact_email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대표 이메일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VARCHAR(100)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N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800">
                          <a:effectLst/>
                          <a:latin typeface="Helvetica" pitchFamily="2" charset="0"/>
                        </a:rPr>
                      </a:br>
                      <a:endParaRPr lang="ko-KR" altLang="en-US" sz="80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676775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main_contact_name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주 담당자명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VARCHAR(50)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800">
                          <a:effectLst/>
                          <a:latin typeface="Helvetica" pitchFamily="2" charset="0"/>
                        </a:rPr>
                      </a:br>
                      <a:endParaRPr lang="ko-KR" altLang="en-US" sz="80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727028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main_contact_phone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주 담당자 연락처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VARCHAR(20)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카카오톡 연동 시 매핑 기준 데이터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7981272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main_contact_email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주 담당자 이메일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VARCHAR(100)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N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AI 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메일 문구 작성 및 발송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808648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contract_status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계약 상태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VARCHAR(20)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ACTIVE(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진행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), </a:t>
                      </a: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HOLD(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보류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), </a:t>
                      </a: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END(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종료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9022057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contract_date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계약 일자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DATETIME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N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계약 일자를 통해 주기 관리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9907600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keyman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주요 결정권자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VARCHAR(50)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N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업무 관련 결정권자 기록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2958146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manager_id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내부 담당 </a:t>
                      </a: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PM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VARCHAR(50)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 dirty="0" err="1">
                          <a:effectLst/>
                          <a:latin typeface="Helvetica" pitchFamily="2" charset="0"/>
                        </a:rPr>
                        <a:t>외래키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(</a:t>
                      </a:r>
                      <a:r>
                        <a:rPr lang="en" sz="800" dirty="0" err="1">
                          <a:effectLst/>
                          <a:latin typeface="Helvetica" pitchFamily="2" charset="0"/>
                        </a:rPr>
                        <a:t>tb_user</a:t>
                      </a:r>
                      <a:r>
                        <a:rPr lang="en" sz="800" dirty="0">
                          <a:effectLst/>
                          <a:latin typeface="Helvetica" pitchFamily="2" charset="0"/>
                        </a:rPr>
                        <a:t> </a:t>
                      </a:r>
                      <a:r>
                        <a:rPr lang="ko-KR" altLang="en-US" sz="800" dirty="0">
                          <a:effectLst/>
                          <a:latin typeface="Helvetica" pitchFamily="2" charset="0"/>
                        </a:rPr>
                        <a:t>참조</a:t>
                      </a:r>
                      <a:r>
                        <a:rPr lang="en-US" altLang="ko-KR" sz="800" dirty="0">
                          <a:effectLst/>
                          <a:latin typeface="Helvetica" pitchFamily="2" charset="0"/>
                        </a:rPr>
                        <a:t>)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227735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created_at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등록 일시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DATETIME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800">
                          <a:effectLst/>
                          <a:latin typeface="Helvetica" pitchFamily="2" charset="0"/>
                        </a:rPr>
                      </a:br>
                      <a:endParaRPr lang="ko-KR" altLang="en-US" sz="80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818214"/>
                  </a:ext>
                </a:extLst>
              </a:tr>
              <a:tr h="2484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updated_at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>
                          <a:effectLst/>
                          <a:latin typeface="Helvetica" pitchFamily="2" charset="0"/>
                        </a:rPr>
                        <a:t>수정 일시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DATETIME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" sz="800">
                          <a:effectLst/>
                          <a:latin typeface="Helvetica" pitchFamily="2" charset="0"/>
                        </a:rPr>
                        <a:t>Y</a:t>
                      </a: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800" dirty="0">
                          <a:effectLst/>
                          <a:latin typeface="Helvetica" pitchFamily="2" charset="0"/>
                        </a:rPr>
                      </a:br>
                      <a:endParaRPr lang="ko-KR" altLang="en-US" sz="800" dirty="0">
                        <a:effectLst/>
                        <a:latin typeface="Helvetica" pitchFamily="2" charset="0"/>
                      </a:endParaRPr>
                    </a:p>
                  </a:txBody>
                  <a:tcPr marL="3358" marR="3358" marT="3358" marB="33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63508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6C3241-4D41-E042-4721-6A039FAC6DD1}"/>
              </a:ext>
            </a:extLst>
          </p:cNvPr>
          <p:cNvSpPr txBox="1"/>
          <p:nvPr/>
        </p:nvSpPr>
        <p:spPr>
          <a:xfrm>
            <a:off x="838200" y="96549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고객사의 기본 정보와 계약 상태를 중앙에서 관리하는 최상위 테이블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1584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AF69B8-83FF-7473-123C-2170E48B4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통합 자산 및 연동 마스터 테이블</a:t>
            </a:r>
            <a:r>
              <a:rPr lang="en" altLang="ko-KR" dirty="0"/>
              <a:t> (</a:t>
            </a:r>
            <a:r>
              <a:rPr lang="en" altLang="ko-KR" dirty="0" err="1"/>
              <a:t>tb_asset</a:t>
            </a:r>
            <a:r>
              <a:rPr lang="en" altLang="ko-KR" dirty="0"/>
              <a:t>)</a:t>
            </a:r>
            <a:endParaRPr kumimoji="1"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FBBA51E-B8FB-54A6-5796-3BFB8543D9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589681"/>
              </p:ext>
            </p:extLst>
          </p:nvPr>
        </p:nvGraphicFramePr>
        <p:xfrm>
          <a:off x="838200" y="1395116"/>
          <a:ext cx="10515600" cy="436602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11316611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7784627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078957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4190257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30850295"/>
                    </a:ext>
                  </a:extLst>
                </a:gridCol>
              </a:tblGrid>
              <a:tr h="13534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물리명</a:t>
                      </a:r>
                      <a:endParaRPr lang="ko-KR" altLang="en-US" sz="600" b="1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논리명</a:t>
                      </a:r>
                      <a:endParaRPr lang="ko-KR" altLang="en-US" sz="600" b="1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데이터 타입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필수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설명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14392"/>
                  </a:ext>
                </a:extLst>
              </a:tr>
              <a:tr h="13534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asset_id</a:t>
                      </a:r>
                      <a:endParaRPr lang="en" sz="6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자산 식별자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기본키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PK)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9054082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client_id</a:t>
                      </a:r>
                      <a:endParaRPr lang="en" sz="6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고객사 식별자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외래키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tb_client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참조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0172499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asset_group</a:t>
                      </a:r>
                      <a:endParaRPr lang="en" sz="6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자산 대분류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MOBILITY(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차량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FACILITY(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설비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373899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asset_type</a:t>
                      </a:r>
                      <a:endParaRPr lang="en" sz="6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자산 소분류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ICE, EV, SOLAR, HEATPUMP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1748950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quantity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자산 수량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INT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차량 대수 또는 설비 설치 대수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866911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main_spec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핵심 제원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VARCHAR(100)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발전용량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주력 차종 등 요약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999109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telemetry_yn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관제 연동 여부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CHAR(1)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데이터 수집 연동 상태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Y/N)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556978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location_info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위치 및 노선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설비 설치 주소 또는 주 운행 노선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1971699"/>
                  </a:ext>
                </a:extLst>
              </a:tr>
              <a:tr h="31332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status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운영 상태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ACTIVE(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운영중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INACTIVE(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중단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ERROR(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장애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844880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agency_name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대상 기관명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VARCHAR(100)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한국환경공단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특정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FMS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관제사 등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698290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site_url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접속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URL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VARCHAR(255)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연동 포털 사이트 또는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주소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6668516"/>
                  </a:ext>
                </a:extLst>
              </a:tr>
              <a:tr h="31332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auth_type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인증 방식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ID_PW 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계정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API_KEY 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토큰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NONE 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미연동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9402502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login_id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접속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ID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VARCHAR(100)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auth_type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ID_PW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일 경우 사용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3815171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login_password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접속 패스워드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VARCHAR(255)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암호화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AES-256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필수 저장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6453462"/>
                  </a:ext>
                </a:extLst>
              </a:tr>
              <a:tr h="31332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api_token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인증 키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auth_type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API_KEY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일 경우 사용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암호화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238894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usage_purpose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연동 목적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VARCHAR(100)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차량 운행 기록 수집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전력량 조회 등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396998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created_at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등록 일시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endParaRPr lang="ko-KR" altLang="en-US" sz="60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051869"/>
                  </a:ext>
                </a:extLst>
              </a:tr>
              <a:tr h="22433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updated_at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수정 일시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6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endParaRPr lang="ko-KR" altLang="en-US" sz="6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540" marR="27810" marT="27810" marB="185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3468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4123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0C77F5-CD91-7AD6-0251-AD1F2305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컨택</a:t>
            </a:r>
            <a:r>
              <a:rPr lang="ko-KR" altLang="en-US" dirty="0"/>
              <a:t> 및 활동 이력 </a:t>
            </a:r>
            <a:r>
              <a:rPr lang="en-US" altLang="ko-KR" dirty="0"/>
              <a:t>(</a:t>
            </a:r>
            <a:r>
              <a:rPr lang="en" altLang="ko-KR" dirty="0" err="1"/>
              <a:t>tb_activity_history</a:t>
            </a:r>
            <a:r>
              <a:rPr lang="en" altLang="ko-KR" dirty="0"/>
              <a:t>)</a:t>
            </a:r>
            <a:endParaRPr kumimoji="1"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DD8B26-956F-D092-E7CE-B86DF6E66D52}"/>
              </a:ext>
            </a:extLst>
          </p:cNvPr>
          <p:cNvSpPr txBox="1"/>
          <p:nvPr/>
        </p:nvSpPr>
        <p:spPr>
          <a:xfrm>
            <a:off x="838200" y="116098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담당자의 모든 상호작용 기록과 이슈 처리 내역을 시간순으로 누적 테이블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AC369FE-48B0-C41E-B3EC-375245CE0B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642739"/>
              </p:ext>
            </p:extLst>
          </p:nvPr>
        </p:nvGraphicFramePr>
        <p:xfrm>
          <a:off x="838200" y="1634239"/>
          <a:ext cx="10515600" cy="435133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9112909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9559719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805271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3623584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7167636"/>
                    </a:ext>
                  </a:extLst>
                </a:gridCol>
              </a:tblGrid>
              <a:tr h="19290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물리명</a:t>
                      </a:r>
                      <a:endParaRPr lang="ko-KR" altLang="en-US" sz="8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논리명</a:t>
                      </a:r>
                      <a:endParaRPr lang="ko-KR" altLang="en-US" sz="8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데이터 타입</a:t>
                      </a:r>
                      <a:endParaRPr lang="ko-KR" altLang="en-US" sz="80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필수</a:t>
                      </a:r>
                      <a:endParaRPr lang="ko-KR" altLang="en-US" sz="8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8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설명</a:t>
                      </a:r>
                      <a:endParaRPr lang="ko-KR" altLang="en-US" sz="8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4511435"/>
                  </a:ext>
                </a:extLst>
              </a:tr>
              <a:tr h="19290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history_id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이력 식별자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기본키 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PK)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122222"/>
                  </a:ext>
                </a:extLst>
              </a:tr>
              <a:tr h="3197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client_id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고객사 식별자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외래키 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tb_client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참조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2196756"/>
                  </a:ext>
                </a:extLst>
              </a:tr>
              <a:tr h="3197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manager_id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내부 작성자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외래키 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tb_user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참조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4002243"/>
                  </a:ext>
                </a:extLst>
              </a:tr>
              <a:tr h="3197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activity_date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활동 일시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통화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미팅 등 실제 활동이 일어난 시간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2682942"/>
                  </a:ext>
                </a:extLst>
              </a:tr>
              <a:tr h="4465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activity_type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활동 유형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CALL, MEETING, EMAIL, ISSUE, KAKAO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2792202"/>
                  </a:ext>
                </a:extLst>
              </a:tr>
              <a:tr h="4465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retention_stage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리텐션 단계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인지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관심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검토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구매결정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온보딩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활용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재계약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확장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657485"/>
                  </a:ext>
                </a:extLst>
              </a:tr>
              <a:tr h="4465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issue_status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이슈 상태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활동 유형이 </a:t>
                      </a: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ISSUE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일 경우 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접수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처리중 등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488950"/>
                  </a:ext>
                </a:extLst>
              </a:tr>
              <a:tr h="3197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title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제목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VARCHAR(200)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목록 표시용 요약 제목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667902"/>
                  </a:ext>
                </a:extLst>
              </a:tr>
              <a:tr h="3197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content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상세 내용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통화 내용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회의록</a:t>
                      </a:r>
                      <a:r>
                        <a:rPr lang="en-US" altLang="ko-KR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이슈 상세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062265"/>
                  </a:ext>
                </a:extLst>
              </a:tr>
              <a:tr h="4465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main_needs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주요 니즈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VARCHAR(200)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고객의 의도 및 핵심 요구사항 간략 요약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8440508"/>
                  </a:ext>
                </a:extLst>
              </a:tr>
              <a:tr h="3197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created_at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기록 일시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시스템에 기록이 생성된 시간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658447"/>
                  </a:ext>
                </a:extLst>
              </a:tr>
              <a:tr h="260728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updated_at</a:t>
                      </a:r>
                      <a:endParaRPr lang="en" sz="8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수정 일시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8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6425" marR="39638" marT="39638" marB="26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8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시스템에서 기록이 수정된 시간</a:t>
                      </a:r>
                    </a:p>
                  </a:txBody>
                  <a:tcPr marL="3523" marR="3523" marT="3523" marB="35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810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0630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FFB1F-37AB-7ABC-294C-109168534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프로젝트 마스터 테이블 </a:t>
            </a:r>
            <a:r>
              <a:rPr lang="en-US" altLang="ko-KR" dirty="0"/>
              <a:t>(</a:t>
            </a:r>
            <a:r>
              <a:rPr lang="en" altLang="ko-KR" dirty="0" err="1"/>
              <a:t>tb_project</a:t>
            </a:r>
            <a:r>
              <a:rPr lang="en" altLang="ko-KR" dirty="0"/>
              <a:t>)</a:t>
            </a:r>
            <a:endParaRPr kumimoji="1"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E65374D-1DAB-30C2-B502-59C2A183C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701822"/>
              </p:ext>
            </p:extLst>
          </p:nvPr>
        </p:nvGraphicFramePr>
        <p:xfrm>
          <a:off x="838200" y="1662602"/>
          <a:ext cx="10515600" cy="436027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31471715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620367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654046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7884214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44961473"/>
                    </a:ext>
                  </a:extLst>
                </a:gridCol>
              </a:tblGrid>
              <a:tr h="1367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물리명</a:t>
                      </a:r>
                      <a:endParaRPr lang="ko-KR" altLang="en-US" sz="6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논리명</a:t>
                      </a:r>
                      <a:endParaRPr lang="ko-KR" altLang="en-US" sz="60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데이터 타입</a:t>
                      </a:r>
                      <a:endParaRPr lang="ko-KR" altLang="en-US" sz="60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필수</a:t>
                      </a:r>
                      <a:endParaRPr lang="ko-KR" altLang="en-US" sz="6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6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설명</a:t>
                      </a:r>
                      <a:endParaRPr lang="ko-KR" altLang="en-US" sz="6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600660"/>
                  </a:ext>
                </a:extLst>
              </a:tr>
              <a:tr h="13679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project_id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프로젝트 식별자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기본키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PK)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164366"/>
                  </a:ext>
                </a:extLst>
              </a:tr>
              <a:tr h="31669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client_id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대표 고객사 식별자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외래키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tb_client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참조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묶음 사업 시 대표자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84219"/>
                  </a:ext>
                </a:extLst>
              </a:tr>
              <a:tr h="31669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project_name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감축 사업명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VARCHAR(200)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예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: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이우진 농가 외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4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개 농가의 히트펌프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...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706496"/>
                  </a:ext>
                </a:extLst>
              </a:tr>
              <a:tr h="31669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reg_code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등록고유번호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예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: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R-2020-KR-03-000528 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등록 전 대기 상태 고려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2556172"/>
                  </a:ext>
                </a:extLst>
              </a:tr>
              <a:tr h="31669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project_status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진행 상태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기획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타당성평가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등록완료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모니터링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검증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배출권발급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753635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reg_date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사업 등록일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사업이 공식 등록된 일자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(2020-10-21)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772337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credit_start_date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인증유효기간 시작일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2017-03-17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2646102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credit_end_date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인증유효기간 종료일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2027-03-16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503899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credit_period_type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인증유효기간 유형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예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: 10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년 고정형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7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년 갱신형 등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9620698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mon_start_date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최근 모니터링 시작일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2017-03-17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4355112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mon_end_date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최근 모니터링 종료일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2021-09-30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636437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mon_cycle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모니터링 주기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예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: 15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년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/10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년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매년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매월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461087"/>
                  </a:ext>
                </a:extLst>
              </a:tr>
              <a:tr h="31669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expected_issue_date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배출권 예상 발급일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고객 문의 대응용 핵심 데이터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정산 예정 시점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6468773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expected_credits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예상 발행량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tCO2)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DECIMAL(10,2)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발행 예상 탄소배출권 수량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0890327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manager_id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내부 담당 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PM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외래키 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tb_user </a:t>
                      </a: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참조</a:t>
                      </a:r>
                      <a:r>
                        <a:rPr lang="en-US" altLang="ko-KR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3403361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created_at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등록 일시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endParaRPr lang="ko-KR" altLang="en-US" sz="60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2146722"/>
                  </a:ext>
                </a:extLst>
              </a:tr>
              <a:tr h="22674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updated_at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수정 일시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6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6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endParaRPr lang="ko-KR" altLang="en-US" sz="6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18740" marR="28109" marT="28109" marB="187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29012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88B6CC-357B-6469-463D-84489C10CC54}"/>
              </a:ext>
            </a:extLst>
          </p:cNvPr>
          <p:cNvSpPr txBox="1"/>
          <p:nvPr/>
        </p:nvSpPr>
        <p:spPr>
          <a:xfrm>
            <a:off x="838200" y="116098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고객사 상담 시 가장 중요한 돈이 언제 들어오는가에 대한 답변을 위해 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배출권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예상 발급일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)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와 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진행 상태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)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컬럼을 전진 배치</a:t>
            </a:r>
          </a:p>
        </p:txBody>
      </p:sp>
    </p:spTree>
    <p:extLst>
      <p:ext uri="{BB962C8B-B14F-4D97-AF65-F5344CB8AC3E}">
        <p14:creationId xmlns:p14="http://schemas.microsoft.com/office/powerpoint/2010/main" val="49132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126046-C731-F3B2-7F8D-9A77C2999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프로젝트 참여 고객사 매핑 테이블 </a:t>
            </a:r>
            <a:r>
              <a:rPr lang="en-US" altLang="ko-KR" dirty="0"/>
              <a:t>(</a:t>
            </a:r>
            <a:r>
              <a:rPr lang="en" altLang="ko-KR" dirty="0" err="1"/>
              <a:t>tb_project_client_map</a:t>
            </a:r>
            <a:r>
              <a:rPr lang="en" altLang="ko-KR" dirty="0"/>
              <a:t>)</a:t>
            </a:r>
            <a:endParaRPr kumimoji="1"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BA3F43-4CA8-2D5C-ECEC-EDABDCC33B0E}"/>
              </a:ext>
            </a:extLst>
          </p:cNvPr>
          <p:cNvSpPr txBox="1"/>
          <p:nvPr/>
        </p:nvSpPr>
        <p:spPr>
          <a:xfrm>
            <a:off x="838199" y="1160980"/>
            <a:ext cx="105155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단일 사업 내 개별 정산 체계 구축전체 사업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예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: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이우진 농가 외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4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개 농가 사업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)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단위로 배출권이 크게 발행되더라도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이 테이블의 </a:t>
            </a:r>
            <a:r>
              <a:rPr lang="en" altLang="ko-KR" sz="1400" dirty="0" err="1">
                <a:effectLst/>
                <a:latin typeface="Paperlogy 4 Regular" pitchFamily="2" charset="-127"/>
                <a:ea typeface="Paperlogy 4 Regular" pitchFamily="2" charset="-127"/>
              </a:rPr>
              <a:t>allocation_ratio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지분율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)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를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통해 각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5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개 농가에 얼마의 배출권이 귀속되는지 시스템이 자동으로 계산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BE3BB29-8561-F797-8B2A-E98E7E2CE8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296548"/>
              </p:ext>
            </p:extLst>
          </p:nvPr>
        </p:nvGraphicFramePr>
        <p:xfrm>
          <a:off x="838199" y="1956835"/>
          <a:ext cx="10515600" cy="437659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422193746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6088839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2489535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5933691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7419751"/>
                    </a:ext>
                  </a:extLst>
                </a:gridCol>
              </a:tblGrid>
              <a:tr h="2021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9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물리명</a:t>
                      </a:r>
                      <a:endParaRPr lang="ko-KR" altLang="en-US" sz="9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9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논리명</a:t>
                      </a:r>
                      <a:endParaRPr lang="ko-KR" altLang="en-US" sz="9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9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데이터 타입</a:t>
                      </a:r>
                      <a:endParaRPr lang="ko-KR" altLang="en-US" sz="9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9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필수</a:t>
                      </a:r>
                      <a:endParaRPr lang="ko-KR" altLang="en-US" sz="9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9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설명</a:t>
                      </a:r>
                      <a:endParaRPr lang="ko-KR" altLang="en-US" sz="9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3570113"/>
                  </a:ext>
                </a:extLst>
              </a:tr>
              <a:tr h="20219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map_id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매핑 식별자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기본키</a:t>
                      </a:r>
                      <a:r>
                        <a:rPr lang="ko-KR" altLang="en-US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PK)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4080448"/>
                  </a:ext>
                </a:extLst>
              </a:tr>
              <a:tr h="3351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project_id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프로젝트 식별자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외래키</a:t>
                      </a:r>
                      <a:r>
                        <a:rPr lang="ko-KR" altLang="en-US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9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tb_project</a:t>
                      </a:r>
                      <a:r>
                        <a:rPr lang="en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ko-KR" altLang="en-US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참조</a:t>
                      </a:r>
                      <a:r>
                        <a:rPr lang="en-US" altLang="ko-KR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0147388"/>
                  </a:ext>
                </a:extLst>
              </a:tr>
              <a:tr h="3351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client_id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참여 고객사 식별자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외래키 </a:t>
                      </a:r>
                      <a:r>
                        <a:rPr lang="en-US" altLang="ko-KR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tb_client </a:t>
                      </a: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참조</a:t>
                      </a:r>
                      <a:r>
                        <a:rPr lang="en-US" altLang="ko-KR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664059"/>
                  </a:ext>
                </a:extLst>
              </a:tr>
              <a:tr h="6010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asset_id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참여 자산 식별자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VARCHAR(50)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외래키 </a:t>
                      </a:r>
                      <a:r>
                        <a:rPr lang="en-US" altLang="ko-KR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tb_asset </a:t>
                      </a: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참조</a:t>
                      </a:r>
                      <a:r>
                        <a:rPr lang="en-US" altLang="ko-KR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묶음 사업에 동원된 특정 자산 연결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91334"/>
                  </a:ext>
                </a:extLst>
              </a:tr>
              <a:tr h="46809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allocation_ratio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배출권 배분 비율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DECIMAL(5,2)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전체 발행량 중 해당 고객사가 가져갈 지분율</a:t>
                      </a:r>
                      <a:r>
                        <a:rPr lang="en-US" altLang="ko-KR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(%)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4419"/>
                  </a:ext>
                </a:extLst>
              </a:tr>
              <a:tr h="46809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success_fee_rate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성공 보수율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DECIMAL(5,2)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해당 고객사와 계약된 개별 성공 보수 수수료율</a:t>
                      </a:r>
                      <a:r>
                        <a:rPr lang="en-US" altLang="ko-KR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(%)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2334471"/>
                  </a:ext>
                </a:extLst>
              </a:tr>
              <a:tr h="46809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expected_amount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예상 정산 금액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DECIMAL(15,2)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N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배분율을 적용하여 산출한 해당 고객사 대상 예상 청구액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5717424"/>
                  </a:ext>
                </a:extLst>
              </a:tr>
              <a:tr h="6010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settlement_status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정산 상태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VARCHAR(20)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STANDBY(</a:t>
                      </a: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대기</a:t>
                      </a:r>
                      <a:r>
                        <a:rPr lang="en-US" altLang="ko-KR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BILLED(</a:t>
                      </a: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청구됨</a:t>
                      </a:r>
                      <a:r>
                        <a:rPr lang="en-US" altLang="ko-KR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), </a:t>
                      </a: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COMPLETED(</a:t>
                      </a: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입금완료</a:t>
                      </a:r>
                      <a:r>
                        <a:rPr lang="en-US" altLang="ko-KR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4250802"/>
                  </a:ext>
                </a:extLst>
              </a:tr>
              <a:tr h="3351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created_at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등록 일시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endParaRPr lang="ko-KR" altLang="en-US" sz="90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1248129"/>
                  </a:ext>
                </a:extLst>
              </a:tr>
              <a:tr h="335144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updated_at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수정 일시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DATETIME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9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Y</a:t>
                      </a: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br>
                        <a:rPr lang="ko-KR" altLang="en-US" sz="9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endParaRPr lang="ko-KR" altLang="en-US" sz="900" dirty="0"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27698" marR="41547" marT="41547" marB="276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4156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8367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BFA5F6-95D4-B09F-D7F0-3D2833EC9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고객사 및 자산 관리 </a:t>
            </a:r>
            <a:r>
              <a:rPr lang="en" altLang="ko-KR" dirty="0"/>
              <a:t>API (Client &amp; Asset)</a:t>
            </a:r>
            <a:endParaRPr kumimoji="1"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487FAB5-A1A5-2DEF-C8DB-0CA5DAFB5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503892"/>
              </p:ext>
            </p:extLst>
          </p:nvPr>
        </p:nvGraphicFramePr>
        <p:xfrm>
          <a:off x="838200" y="1687403"/>
          <a:ext cx="10515600" cy="4366905"/>
        </p:xfrm>
        <a:graphic>
          <a:graphicData uri="http://schemas.openxmlformats.org/drawingml/2006/table">
            <a:tbl>
              <a:tblPr/>
              <a:tblGrid>
                <a:gridCol w="1277679">
                  <a:extLst>
                    <a:ext uri="{9D8B030D-6E8A-4147-A177-3AD203B41FA5}">
                      <a16:colId xmlns:a16="http://schemas.microsoft.com/office/drawing/2014/main" val="825012450"/>
                    </a:ext>
                  </a:extLst>
                </a:gridCol>
                <a:gridCol w="1297172">
                  <a:extLst>
                    <a:ext uri="{9D8B030D-6E8A-4147-A177-3AD203B41FA5}">
                      <a16:colId xmlns:a16="http://schemas.microsoft.com/office/drawing/2014/main" val="1762677004"/>
                    </a:ext>
                  </a:extLst>
                </a:gridCol>
                <a:gridCol w="2977116">
                  <a:extLst>
                    <a:ext uri="{9D8B030D-6E8A-4147-A177-3AD203B41FA5}">
                      <a16:colId xmlns:a16="http://schemas.microsoft.com/office/drawing/2014/main" val="2423917502"/>
                    </a:ext>
                  </a:extLst>
                </a:gridCol>
                <a:gridCol w="4963633">
                  <a:extLst>
                    <a:ext uri="{9D8B030D-6E8A-4147-A177-3AD203B41FA5}">
                      <a16:colId xmlns:a16="http://schemas.microsoft.com/office/drawing/2014/main" val="3389734043"/>
                    </a:ext>
                  </a:extLst>
                </a:gridCol>
              </a:tblGrid>
              <a:tr h="3126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도메인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메서드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엔드포인트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역할 및 설명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9959422"/>
                  </a:ext>
                </a:extLst>
              </a:tr>
              <a:tr h="72379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Client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en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</a:t>
                      </a: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/v1/clients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고객사 마스터 목록 조회 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운수사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고정원 필터링 및 검색 지원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7822593"/>
                  </a:ext>
                </a:extLst>
              </a:tr>
              <a:tr h="51822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Client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/api/v1/clients/{client_id}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특정 고객사 상세 정보 조회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59026"/>
                  </a:ext>
                </a:extLst>
              </a:tr>
              <a:tr h="31264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Client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POST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/api/v1/clients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신규 고객사 등록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536356"/>
                  </a:ext>
                </a:extLst>
              </a:tr>
              <a:tr h="51822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Client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PUT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/api/v1/clients/{client_id}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고객사 정보 수정 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계약 상태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담당자 변경 등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4347737"/>
                  </a:ext>
                </a:extLst>
              </a:tr>
              <a:tr h="51822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Asset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/api/v1/clients/{client_id}/assets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특정 고객사의 통합 자산 목록 조회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4378"/>
                  </a:ext>
                </a:extLst>
              </a:tr>
              <a:tr h="72379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Asset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POST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/api/v1/assets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신규 자산 및 외부 기관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KOC, FMS)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연동 인증 정보 등록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80482"/>
                  </a:ext>
                </a:extLst>
              </a:tr>
              <a:tr h="72379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Asset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POST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en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</a:t>
                      </a: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/v1/assets/reveal-auth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프라이버시 모드 해제 시 호출 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암호화된 패스워드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토큰 일시 복호화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42828" marR="64242" marT="64242" marB="42828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6971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2178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387C8F-1E7D-D928-7DA2-54D876113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컨택</a:t>
            </a:r>
            <a:r>
              <a:rPr lang="ko-KR" altLang="en-US" dirty="0"/>
              <a:t> 이력 및 </a:t>
            </a:r>
            <a:r>
              <a:rPr lang="en" altLang="ko-KR" dirty="0"/>
              <a:t>CRM </a:t>
            </a:r>
            <a:r>
              <a:rPr lang="ko-KR" altLang="en-US" dirty="0"/>
              <a:t>파이프라인 </a:t>
            </a:r>
            <a:r>
              <a:rPr lang="en" altLang="ko-KR" dirty="0"/>
              <a:t>API (History)</a:t>
            </a:r>
            <a:endParaRPr kumimoji="1"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36CD18A-3FF2-7A50-9FAA-24F7BF7C6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140995"/>
              </p:ext>
            </p:extLst>
          </p:nvPr>
        </p:nvGraphicFramePr>
        <p:xfrm>
          <a:off x="838200" y="1687403"/>
          <a:ext cx="10515600" cy="2207895"/>
        </p:xfrm>
        <a:graphic>
          <a:graphicData uri="http://schemas.openxmlformats.org/drawingml/2006/table">
            <a:tbl>
              <a:tblPr/>
              <a:tblGrid>
                <a:gridCol w="1288312">
                  <a:extLst>
                    <a:ext uri="{9D8B030D-6E8A-4147-A177-3AD203B41FA5}">
                      <a16:colId xmlns:a16="http://schemas.microsoft.com/office/drawing/2014/main" val="1165841672"/>
                    </a:ext>
                  </a:extLst>
                </a:gridCol>
                <a:gridCol w="1286539">
                  <a:extLst>
                    <a:ext uri="{9D8B030D-6E8A-4147-A177-3AD203B41FA5}">
                      <a16:colId xmlns:a16="http://schemas.microsoft.com/office/drawing/2014/main" val="2554041982"/>
                    </a:ext>
                  </a:extLst>
                </a:gridCol>
                <a:gridCol w="2977116">
                  <a:extLst>
                    <a:ext uri="{9D8B030D-6E8A-4147-A177-3AD203B41FA5}">
                      <a16:colId xmlns:a16="http://schemas.microsoft.com/office/drawing/2014/main" val="3348212087"/>
                    </a:ext>
                  </a:extLst>
                </a:gridCol>
                <a:gridCol w="4963633">
                  <a:extLst>
                    <a:ext uri="{9D8B030D-6E8A-4147-A177-3AD203B41FA5}">
                      <a16:colId xmlns:a16="http://schemas.microsoft.com/office/drawing/2014/main" val="27767368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도메인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메서드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엔드포인트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역할 및 설명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755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History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/api/v1/histories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전체 영업 활동 및 이슈 타임라인 조회 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대시보드 표시용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917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History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/api/v1/clients/{client_id}/histories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특정 고객사의 상호작용 이력 타임라인 조회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50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History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POST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/api/v1/histories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신규 상호작용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통화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미팅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이메일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이슈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기록 등록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8848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History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PUT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/api/v1/histories/{history_id}/status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오픈 이슈의 진행 상태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접수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처리중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완료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업데이트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395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2855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6D218-9707-F68F-FE34-FD6A2CCC5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감축 사업 프로젝트 및 정산 </a:t>
            </a:r>
            <a:r>
              <a:rPr lang="en" altLang="ko-KR" dirty="0"/>
              <a:t>API (Project)</a:t>
            </a:r>
            <a:endParaRPr kumimoji="1"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E1A5378-1217-7BC5-2911-A65FDA3D21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8664234"/>
              </p:ext>
            </p:extLst>
          </p:nvPr>
        </p:nvGraphicFramePr>
        <p:xfrm>
          <a:off x="838199" y="1657506"/>
          <a:ext cx="10515600" cy="4351336"/>
        </p:xfrm>
        <a:graphic>
          <a:graphicData uri="http://schemas.openxmlformats.org/drawingml/2006/table">
            <a:tbl>
              <a:tblPr/>
              <a:tblGrid>
                <a:gridCol w="1267048">
                  <a:extLst>
                    <a:ext uri="{9D8B030D-6E8A-4147-A177-3AD203B41FA5}">
                      <a16:colId xmlns:a16="http://schemas.microsoft.com/office/drawing/2014/main" val="1979524475"/>
                    </a:ext>
                  </a:extLst>
                </a:gridCol>
                <a:gridCol w="1307804">
                  <a:extLst>
                    <a:ext uri="{9D8B030D-6E8A-4147-A177-3AD203B41FA5}">
                      <a16:colId xmlns:a16="http://schemas.microsoft.com/office/drawing/2014/main" val="3519589828"/>
                    </a:ext>
                  </a:extLst>
                </a:gridCol>
                <a:gridCol w="2977116">
                  <a:extLst>
                    <a:ext uri="{9D8B030D-6E8A-4147-A177-3AD203B41FA5}">
                      <a16:colId xmlns:a16="http://schemas.microsoft.com/office/drawing/2014/main" val="561528974"/>
                    </a:ext>
                  </a:extLst>
                </a:gridCol>
                <a:gridCol w="4963632">
                  <a:extLst>
                    <a:ext uri="{9D8B030D-6E8A-4147-A177-3AD203B41FA5}">
                      <a16:colId xmlns:a16="http://schemas.microsoft.com/office/drawing/2014/main" val="2638838287"/>
                    </a:ext>
                  </a:extLst>
                </a:gridCol>
              </a:tblGrid>
              <a:tr h="34602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도메인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메서드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엔드포인트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역할 및 설명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8500030"/>
                  </a:ext>
                </a:extLst>
              </a:tr>
              <a:tr h="80106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Project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en" sz="1400" dirty="0" err="1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api</a:t>
                      </a: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/v1/projects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온실가스 감축 사업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묶음 사업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마스터 목록 조회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6931424"/>
                  </a:ext>
                </a:extLst>
              </a:tr>
              <a:tr h="80106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Project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/api/v1/projects/{project_id}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특정 사업의 상세 진행 상태 및 모니터링 주기 조회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4416880"/>
                  </a:ext>
                </a:extLst>
              </a:tr>
              <a:tr h="80106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Map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/api/v1/projects/{project_id}/clients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해당 사업에 묶인 참여 고객사 목록 및 개별 지분율 조회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171799"/>
                  </a:ext>
                </a:extLst>
              </a:tr>
              <a:tr h="80106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Map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GET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/api/v1/settlements/expected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전사 대시보드용 당월 총 예상 정산액 조회 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성공 보수 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10~15%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반영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2204135"/>
                  </a:ext>
                </a:extLst>
              </a:tr>
              <a:tr h="801063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Map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PUT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/api/v1/settlements/{map_id}/status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특정 고객사의 정산 상태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청구됨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입금완료</a:t>
                      </a:r>
                      <a:r>
                        <a:rPr lang="en-US" altLang="ko-KR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업데이트</a:t>
                      </a:r>
                    </a:p>
                  </a:txBody>
                  <a:tcPr marL="47400" marR="71100" marT="71100" marB="4740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314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9848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39E0B3-0C2C-1290-3CF4-EF85F51C1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카카오톡 및 하이브리드 커뮤니케이션 </a:t>
            </a:r>
            <a:r>
              <a:rPr lang="en" altLang="ko-KR" dirty="0"/>
              <a:t>API</a:t>
            </a:r>
            <a:endParaRPr kumimoji="1"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F648E22-0671-07C6-504D-B65954724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062860"/>
              </p:ext>
            </p:extLst>
          </p:nvPr>
        </p:nvGraphicFramePr>
        <p:xfrm>
          <a:off x="838200" y="1687403"/>
          <a:ext cx="10515600" cy="1638300"/>
        </p:xfrm>
        <a:graphic>
          <a:graphicData uri="http://schemas.openxmlformats.org/drawingml/2006/table">
            <a:tbl>
              <a:tblPr/>
              <a:tblGrid>
                <a:gridCol w="1288312">
                  <a:extLst>
                    <a:ext uri="{9D8B030D-6E8A-4147-A177-3AD203B41FA5}">
                      <a16:colId xmlns:a16="http://schemas.microsoft.com/office/drawing/2014/main" val="1279745860"/>
                    </a:ext>
                  </a:extLst>
                </a:gridCol>
                <a:gridCol w="1286539">
                  <a:extLst>
                    <a:ext uri="{9D8B030D-6E8A-4147-A177-3AD203B41FA5}">
                      <a16:colId xmlns:a16="http://schemas.microsoft.com/office/drawing/2014/main" val="231275770"/>
                    </a:ext>
                  </a:extLst>
                </a:gridCol>
                <a:gridCol w="2977116">
                  <a:extLst>
                    <a:ext uri="{9D8B030D-6E8A-4147-A177-3AD203B41FA5}">
                      <a16:colId xmlns:a16="http://schemas.microsoft.com/office/drawing/2014/main" val="3805759350"/>
                    </a:ext>
                  </a:extLst>
                </a:gridCol>
                <a:gridCol w="4963633">
                  <a:extLst>
                    <a:ext uri="{9D8B030D-6E8A-4147-A177-3AD203B41FA5}">
                      <a16:colId xmlns:a16="http://schemas.microsoft.com/office/drawing/2014/main" val="2133533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도메인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메서드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 err="1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엔드포인트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역할 및 설명</a:t>
                      </a:r>
                      <a:endParaRPr lang="ko-KR" altLang="en-US" sz="1400" dirty="0">
                        <a:solidFill>
                          <a:schemeClr val="bg1"/>
                        </a:solidFill>
                        <a:effectLst/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635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Kakao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POST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/api/v1/comm/kakao/webhook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고객 카카오톡 메시지 수신 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AI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챗봇 엔진으로 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1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차 전달</a:t>
                      </a:r>
                      <a:r>
                        <a:rPr lang="en-US" altLang="ko-KR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152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Kakao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POST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/api/v1/comm/kakao/escalate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민감 키워드 감지 시 </a:t>
                      </a: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AI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응대 중단 및 </a:t>
                      </a: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CMS </a:t>
                      </a:r>
                      <a:r>
                        <a:rPr lang="ko-KR" altLang="en-US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긴급 알림 발생 처리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8629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Kakao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POST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/api/v1/comm/kakao/reply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내부 실무자가 </a:t>
                      </a:r>
                      <a:r>
                        <a:rPr lang="en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CMS </a:t>
                      </a:r>
                      <a:r>
                        <a:rPr lang="ko-KR" altLang="en-US" sz="1400" dirty="0">
                          <a:effectLst/>
                          <a:latin typeface="Paperlogy 4 Regular" pitchFamily="2" charset="-127"/>
                          <a:ea typeface="Paperlogy 4 Regular" pitchFamily="2" charset="-127"/>
                        </a:rPr>
                        <a:t>텍스트 창에서 작성한 답변을 고객 카카오톡으로 전송</a:t>
                      </a:r>
                    </a:p>
                  </a:txBody>
                  <a:tcPr marL="57150" marR="85725" marT="85725" marB="57150" anchor="ctr">
                    <a:lnL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0529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192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D048F0-D6A6-7E09-89CB-66B860230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" altLang="ko-KR" dirty="0"/>
              <a:t>UI/UX </a:t>
            </a:r>
            <a:r>
              <a:rPr lang="ko-KR" altLang="en-US" dirty="0"/>
              <a:t>디자인 원칙 및 디바이스별 대응 전략</a:t>
            </a:r>
            <a:endParaRPr kumimoji="1"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B062EB-8B05-DDB8-D8A9-82E84F0F34C3}"/>
              </a:ext>
            </a:extLst>
          </p:cNvPr>
          <p:cNvSpPr txBox="1"/>
          <p:nvPr/>
        </p:nvSpPr>
        <p:spPr>
          <a:xfrm>
            <a:off x="838200" y="1589220"/>
            <a:ext cx="10515600" cy="3818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  <a:buNone/>
            </a:pP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1. UI/UX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디자인 원칙 및 디바이스별 대응 전략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시각적 안정성</a:t>
            </a:r>
            <a:endParaRPr lang="en-US" altLang="ko-KR" sz="1400" b="1" dirty="0">
              <a:latin typeface="Paperlogy 4 Regular" pitchFamily="2" charset="-127"/>
              <a:ea typeface="Paperlogy 4 Regular" pitchFamily="2" charset="-127"/>
            </a:endParaRPr>
          </a:p>
          <a:p>
            <a:pPr marL="95250"/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실무진의 눈 피로도를 낮추기 위해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전자잉크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E-ink)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디스플레이나 종이 문서를 보는 듯한 무채색 기반의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미니멀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테마 적용</a:t>
            </a: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모바일 뷰어 모드</a:t>
            </a:r>
            <a:endParaRPr lang="en-US" altLang="ko-KR" sz="1400" b="1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95250"/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현장 이동 및 전화 통화 중 빠른 조회를 위한 화면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복잡한 데이터 표는 직관적인 카드 형태로 자동 변환되며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b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데이터 등록 및 복잡한 수정 기능은 오작동 방지</a:t>
            </a:r>
            <a:r>
              <a:rPr lang="ko-KR" altLang="en-US" sz="1400" dirty="0">
                <a:latin typeface="Paperlogy 4 Regular" pitchFamily="2" charset="-127"/>
                <a:ea typeface="Paperlogy 4 Regular" pitchFamily="2" charset="-127"/>
              </a:rPr>
              <a:t>와 외부에 실수 유출 방지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를 위해 숨김 처리 기능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클릭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3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초 뷰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이휴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자동숨김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)</a:t>
            </a: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태블릿 현장 지원 모드</a:t>
            </a:r>
            <a:endParaRPr lang="en-US" altLang="ko-KR" sz="1400" b="1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95250"/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농장 및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차고지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현장 실사 지원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터치하기 편하도록 여백을 충분히 확보하고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b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태블릿 카메라를 연동하여 태양광 인버터나 히트펌프 제원표를 촬영 후 즉시 시스템에 업로드하는 기능 활성화</a:t>
            </a: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데스크톱 풀 스케일 모드</a:t>
            </a:r>
            <a:endParaRPr lang="en-US" altLang="ko-KR" sz="1400" b="1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95250"/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메인 업무용 컨트롤 타워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마스터 데이터 관리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대량 엑셀 다운로드 등 시스템의 모든 권한과 기능이 제한 없이 동작될 수 있도록 강화</a:t>
            </a:r>
          </a:p>
        </p:txBody>
      </p:sp>
    </p:spTree>
    <p:extLst>
      <p:ext uri="{BB962C8B-B14F-4D97-AF65-F5344CB8AC3E}">
        <p14:creationId xmlns:p14="http://schemas.microsoft.com/office/powerpoint/2010/main" val="693055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34EF87-B478-48F9-26C6-AA47C7760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모바일 </a:t>
            </a:r>
            <a:r>
              <a:rPr lang="en-US" altLang="ko-KR" dirty="0"/>
              <a:t>(</a:t>
            </a:r>
            <a:r>
              <a:rPr lang="ko-KR" altLang="en-US" dirty="0"/>
              <a:t>스마트폰</a:t>
            </a:r>
            <a:r>
              <a:rPr lang="en-US" altLang="ko-KR" dirty="0"/>
              <a:t>) : </a:t>
            </a:r>
            <a:r>
              <a:rPr lang="ko-KR" altLang="en-US" dirty="0"/>
              <a:t>빠른 조회 및 현장 대응</a:t>
            </a:r>
            <a:endParaRPr kumimoji="1"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4DB3C-A5C8-CEF4-C572-FD8BCC4720C7}"/>
              </a:ext>
            </a:extLst>
          </p:cNvPr>
          <p:cNvSpPr txBox="1"/>
          <p:nvPr/>
        </p:nvSpPr>
        <p:spPr>
          <a:xfrm>
            <a:off x="838200" y="1807535"/>
            <a:ext cx="1051560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운전 중이거나 외부 이동 중 전화 통화를 하면서 필요한 정보를 즉시 찾아보는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뷰어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Viewer)'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역할에 집중</a:t>
            </a: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화면 레이아웃 변경</a:t>
            </a:r>
          </a:p>
          <a:p>
            <a:pPr marL="317500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좌측 고정 메뉴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Left LNB)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는 숨김 처리하고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우측 상단 햄버거 버튼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三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)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또는 하단 탭 바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Bottom Navigation)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형태로 메뉴 구조 단순화</a:t>
            </a: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317500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복잡한 데이터 그리드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)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는 가로 스크롤을 유발하므로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고객사명과 핵심 지표만 크게 보이는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카드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Card)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뷰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형태로 자동 변환되도록 설계</a:t>
            </a: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핵심 지원 기능</a:t>
            </a:r>
          </a:p>
          <a:p>
            <a:pPr marL="317500">
              <a:buFont typeface="Arial" panose="020B0604020202020204" pitchFamily="34" charset="0"/>
              <a:buChar char="•"/>
            </a:pPr>
            <a:r>
              <a:rPr lang="en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Click-to-Call 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연동 </a:t>
            </a: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고객사 마스터 정보에서 주 담당자 전화번호를 터치하면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즉시 스마트폰의 전화 앱으로 연결되도록 지원</a:t>
            </a:r>
          </a:p>
          <a:p>
            <a:pPr marL="317500">
              <a:buFont typeface="Arial" panose="020B0604020202020204" pitchFamily="34" charset="0"/>
              <a:buChar char="•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통합 검색 </a:t>
            </a:r>
            <a:r>
              <a:rPr lang="ko-KR" altLang="en-US" sz="1400" b="1" dirty="0" err="1">
                <a:effectLst/>
                <a:latin typeface="Paperlogy 4 Regular" pitchFamily="2" charset="-127"/>
                <a:ea typeface="Paperlogy 4 Regular" pitchFamily="2" charset="-127"/>
              </a:rPr>
              <a:t>최상단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고정 </a:t>
            </a: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화면을 내리더라도 검색창이 상단에 고정되어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통화 중에도 즉시 다른 고객사의 이름으로 검색</a:t>
            </a:r>
          </a:p>
          <a:p>
            <a:pPr marL="317500">
              <a:buFont typeface="Arial" panose="020B0604020202020204" pitchFamily="34" charset="0"/>
              <a:buChar char="•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알림 및 상태 확인 </a:t>
            </a: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현재 진행 중인 카카오톡 문의나 긴급 이슈 상태만 빠르게 확인</a:t>
            </a: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기능 제한 </a:t>
            </a: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입력 저항 최소화</a:t>
            </a: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)</a:t>
            </a: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317500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신규 고객사 등록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복잡한 엑셀 데이터 다운로드</a:t>
            </a:r>
            <a:endParaRPr lang="en-US" altLang="ko-KR" sz="1400" dirty="0">
              <a:effectLst/>
              <a:latin typeface="Paperlogy 4 Regular" pitchFamily="2" charset="-127"/>
              <a:ea typeface="Paperlogy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2156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1E86F-54A4-1ABF-CD1F-02ED3B714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태블릿 </a:t>
            </a:r>
            <a:r>
              <a:rPr lang="en-US" altLang="ko-KR" dirty="0"/>
              <a:t>(</a:t>
            </a:r>
            <a:r>
              <a:rPr lang="en" altLang="ko-KR" dirty="0"/>
              <a:t>Tablet) : </a:t>
            </a:r>
            <a:r>
              <a:rPr lang="ko-KR" altLang="en-US" dirty="0"/>
              <a:t>현장 실사 및 미팅 지원</a:t>
            </a:r>
            <a:endParaRPr kumimoji="1"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9905C6-F926-0AB6-5FB3-82E9657A7A67}"/>
              </a:ext>
            </a:extLst>
          </p:cNvPr>
          <p:cNvSpPr txBox="1"/>
          <p:nvPr/>
        </p:nvSpPr>
        <p:spPr>
          <a:xfrm>
            <a:off x="838200" y="1523930"/>
            <a:ext cx="105156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농장이나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운수사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차고지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현장 실사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또는 외부 미팅 시 문서를 확인하고 즉각적인 현장 데이터를 입력하는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포터블 워크스테이션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역할 수행</a:t>
            </a: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화면 레이아웃 변경</a:t>
            </a: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74638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PC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와 유사한 화면 구성을 유지하되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마우스가 아닌 손가락 터치를 고려하여 버튼과 입력창의 상하 여백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Touch Target)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을 넉넉하게 확보</a:t>
            </a:r>
          </a:p>
          <a:p>
            <a:pPr marL="274638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태블릿 가로 모드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Landscape)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에서는 좌측 메뉴와 우측 상세 화면을 분할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Split)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하여 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PC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처럼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사용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</a:p>
          <a:p>
            <a:pPr marL="274638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세로 모드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Portrait)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에서는 좌측 메뉴를 숨겨 화면 공간 확보</a:t>
            </a: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핵심 지원 기능</a:t>
            </a: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74638">
              <a:buFont typeface="Arial" panose="020B0604020202020204" pitchFamily="34" charset="0"/>
              <a:buChar char="•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카메라 연동 현장 첨부</a:t>
            </a:r>
            <a:b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</a:b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태블릿으로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태양광 인버터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히트펌프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제원표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차량 계기판 등을 촬영하여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고객사 전용 문서함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에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즉시 업로드하는 기능 활성화 </a:t>
            </a:r>
            <a:r>
              <a:rPr lang="en-US" altLang="ko-KR" sz="1400" dirty="0">
                <a:solidFill>
                  <a:srgbClr val="FF0000"/>
                </a:solidFill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>
                <a:solidFill>
                  <a:srgbClr val="FF0000"/>
                </a:solidFill>
                <a:latin typeface="Paperlogy 4 Regular" pitchFamily="2" charset="-127"/>
                <a:ea typeface="Paperlogy 4 Regular" pitchFamily="2" charset="-127"/>
              </a:rPr>
              <a:t>운수사별 매월 보고서 파일 메일 배치 전송을 위해 파일 매칭 작업 필요</a:t>
            </a:r>
            <a:r>
              <a:rPr lang="en-US" altLang="ko-KR" sz="1400" dirty="0">
                <a:solidFill>
                  <a:srgbClr val="FF0000"/>
                </a:solidFill>
                <a:latin typeface="Paperlogy 4 Regular" pitchFamily="2" charset="-127"/>
                <a:ea typeface="Paperlogy 4 Regular" pitchFamily="2" charset="-127"/>
              </a:rPr>
              <a:t>)</a:t>
            </a: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74638">
              <a:buFont typeface="Arial" panose="020B0604020202020204" pitchFamily="34" charset="0"/>
              <a:buChar char="•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카카오톡 하이브리드 대응</a:t>
            </a:r>
            <a:b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</a:b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화면 분할을 통해 좌측에서는 고객사 자산 현황을 보고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우측에서는 카카오톡 실시간 답변을 입력하는 멀티태스킹 지원</a:t>
            </a:r>
          </a:p>
        </p:txBody>
      </p:sp>
    </p:spTree>
    <p:extLst>
      <p:ext uri="{BB962C8B-B14F-4D97-AF65-F5344CB8AC3E}">
        <p14:creationId xmlns:p14="http://schemas.microsoft.com/office/powerpoint/2010/main" val="27783630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FB458-0230-2984-96F0-A26584937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데스크톱 </a:t>
            </a:r>
            <a:r>
              <a:rPr lang="en-US" altLang="ko-KR" dirty="0"/>
              <a:t>(</a:t>
            </a:r>
            <a:r>
              <a:rPr lang="en" altLang="ko-KR" dirty="0"/>
              <a:t>PC) : </a:t>
            </a:r>
            <a:r>
              <a:rPr lang="ko-KR" altLang="en-US" dirty="0"/>
              <a:t>풀 스케일 업무 및 관리</a:t>
            </a:r>
            <a:endParaRPr kumimoji="1"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65786-117D-8335-3152-4E3A70BE34EB}"/>
              </a:ext>
            </a:extLst>
          </p:cNvPr>
          <p:cNvSpPr txBox="1"/>
          <p:nvPr/>
        </p:nvSpPr>
        <p:spPr>
          <a:xfrm>
            <a:off x="838200" y="1242098"/>
            <a:ext cx="105156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내부 사무실에서 대량의 데이터를 다루고 문서를 편집하는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메인 컨트롤 타워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역할 수행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앞서 기획한 종이 문서나 전자잉크를 보는 듯한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미니멀하고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눈이 편안한 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UI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가 가장 잘 발휘되는 환경</a:t>
            </a:r>
          </a:p>
          <a:p>
            <a:pPr>
              <a:buNone/>
            </a:pPr>
            <a:b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</a:b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85750" indent="-285750">
              <a:buFont typeface="Wingdings" pitchFamily="2" charset="2"/>
              <a:buChar char="l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화면 레이아웃 및 기능</a:t>
            </a: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74638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앞서 정의한 좌측 고정형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Left LNB)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메뉴와 다중 분할 패널을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100%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활용</a:t>
            </a:r>
          </a:p>
          <a:p>
            <a:pPr marL="274638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모든 등록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수정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삭제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엑셀 업로드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/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다운로드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시스템 백업 관리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AI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프롬프트 지식베이스 관리 등 관리자 및 실무자의 모든 권한이 제한 없이 동작</a:t>
            </a:r>
            <a:endParaRPr lang="en-US" altLang="ko-KR" sz="1400" dirty="0">
              <a:effectLst/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6CFB0-D419-3A06-1515-AF955B33BBF2}"/>
              </a:ext>
            </a:extLst>
          </p:cNvPr>
          <p:cNvSpPr txBox="1"/>
          <p:nvPr/>
        </p:nvSpPr>
        <p:spPr>
          <a:xfrm>
            <a:off x="838199" y="2951946"/>
            <a:ext cx="1051559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itchFamily="2" charset="2"/>
              <a:buChar char="l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시스템 내에서 기본적으로 가려져야 할 재무 및 계약 관련 데이터의 범위 정의</a:t>
            </a: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74638" algn="just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수익 및 정산 지표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: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대시보드의 당월 예상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정산액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누적 매출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성공 보수 금액</a:t>
            </a:r>
          </a:p>
          <a:p>
            <a:pPr marL="274638" algn="just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계약 조건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: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고객사 마스터 상세 화면의 성공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보수율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예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: 15%),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수수료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단가</a:t>
            </a:r>
          </a:p>
          <a:p>
            <a:pPr marL="274638" algn="just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민감 식별 정보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: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필요한 경우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전체 고객사 목록에서 타 고객사의 연락처나 세부 자산 규모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C6E145-C673-0BB7-D5AB-CD0CDC79901F}"/>
              </a:ext>
            </a:extLst>
          </p:cNvPr>
          <p:cNvSpPr txBox="1"/>
          <p:nvPr/>
        </p:nvSpPr>
        <p:spPr>
          <a:xfrm>
            <a:off x="838198" y="4096581"/>
            <a:ext cx="1051559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itchFamily="2" charset="2"/>
              <a:buChar char="l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글로벌 보안 </a:t>
            </a:r>
            <a:r>
              <a:rPr lang="ko-KR" altLang="en-US" sz="1400" b="1" dirty="0" err="1">
                <a:effectLst/>
                <a:latin typeface="Paperlogy 4 Regular" pitchFamily="2" charset="-127"/>
                <a:ea typeface="Paperlogy 4 Regular" pitchFamily="2" charset="-127"/>
              </a:rPr>
              <a:t>토글</a:t>
            </a: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Global Toggle)</a:t>
            </a:r>
            <a:endParaRPr lang="en" altLang="ko-KR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74638" algn="just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상단 헤더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Top Header)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알림 센터 옆에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보안 모드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' 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ON/OFF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스위치 배치</a:t>
            </a:r>
          </a:p>
          <a:p>
            <a:pPr marL="274638" algn="just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현장 미팅 직전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이 스위치를 통해 시스템 전체의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마스킹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상태를 일괄적으로 켜거나 끌 수 있음</a:t>
            </a:r>
          </a:p>
          <a:p>
            <a:pPr algn="just">
              <a:buNone/>
            </a:pPr>
            <a:endParaRPr lang="ko-KR" altLang="en-US" sz="1400" dirty="0">
              <a:effectLst/>
              <a:latin typeface="Paperlogy 4 Regular" pitchFamily="2" charset="-127"/>
              <a:ea typeface="Paperlogy 4 Regular" pitchFamily="2" charset="-127"/>
            </a:endParaRPr>
          </a:p>
          <a:p>
            <a:pPr marL="285750" indent="-285750" algn="just">
              <a:buFont typeface="Wingdings" pitchFamily="2" charset="2"/>
              <a:buChar char="l"/>
            </a:pPr>
            <a:r>
              <a:rPr lang="ko-KR" altLang="en-US" sz="1400" b="1" dirty="0">
                <a:effectLst/>
                <a:latin typeface="Paperlogy 4 Regular" pitchFamily="2" charset="-127"/>
                <a:ea typeface="Paperlogy 4 Regular" pitchFamily="2" charset="-127"/>
              </a:rPr>
              <a:t>개별 클릭 표시 및 자동 숨김 </a:t>
            </a:r>
            <a:r>
              <a:rPr lang="en-US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b="1" dirty="0">
                <a:effectLst/>
                <a:latin typeface="Paperlogy 4 Regular" pitchFamily="2" charset="-127"/>
                <a:ea typeface="Paperlogy 4 Regular" pitchFamily="2" charset="-127"/>
              </a:rPr>
              <a:t>Micro-Interaction)</a:t>
            </a:r>
          </a:p>
          <a:p>
            <a:pPr marL="274638" algn="just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보안 모드가 켜진 상태에서 특정 숫자를 확인해야 할 경우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 err="1">
                <a:effectLst/>
                <a:latin typeface="Paperlogy 4 Regular" pitchFamily="2" charset="-127"/>
                <a:ea typeface="Paperlogy 4 Regular" pitchFamily="2" charset="-127"/>
              </a:rPr>
              <a:t>마스킹된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텍스트 영역을 클릭하면 해당 정보만 일시적으로 표시</a:t>
            </a:r>
          </a:p>
          <a:p>
            <a:pPr marL="274638" algn="just">
              <a:buFont typeface="Arial" panose="020B0604020202020204" pitchFamily="34" charset="0"/>
              <a:buChar char="•"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보안 사고 방지를 위해 표시된 정보는 마우스 커서가 영역을 벗어나거나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Mouse-leave), 5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초가 경과하면 자동으로 다시 가려짐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Auto-hide)</a:t>
            </a:r>
          </a:p>
        </p:txBody>
      </p:sp>
    </p:spTree>
    <p:extLst>
      <p:ext uri="{BB962C8B-B14F-4D97-AF65-F5344CB8AC3E}">
        <p14:creationId xmlns:p14="http://schemas.microsoft.com/office/powerpoint/2010/main" val="2622072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EF0DAF-72DC-29D5-F8B4-8D1756F9B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통합 </a:t>
            </a:r>
            <a:r>
              <a:rPr kumimoji="1" lang="ko-KR" altLang="en-US" dirty="0" err="1"/>
              <a:t>현황판</a:t>
            </a:r>
            <a:endParaRPr kumimoji="1"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50F615-A4BC-4687-5994-90143E13B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60980"/>
            <a:ext cx="10515600" cy="5213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5019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9221BE-CD5C-7AEF-1E4E-E83CA3ABF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통합 </a:t>
            </a:r>
            <a:r>
              <a:rPr kumimoji="1" lang="ko-KR" altLang="en-US" dirty="0" err="1"/>
              <a:t>현황판</a:t>
            </a:r>
            <a:r>
              <a:rPr kumimoji="1" lang="ko-KR" altLang="en-US" dirty="0"/>
              <a:t> </a:t>
            </a:r>
            <a:r>
              <a:rPr kumimoji="1" lang="en-US" altLang="ko-KR" dirty="0"/>
              <a:t>-</a:t>
            </a:r>
            <a:r>
              <a:rPr kumimoji="1" lang="ko-KR" altLang="en-US" dirty="0"/>
              <a:t> 전국 관제 지도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803C6DB-9A7E-7CBC-ADDE-B4189597F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292116"/>
            <a:ext cx="8085667" cy="51682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139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F1DCE0-8000-11DA-DEB7-55A1B5B23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내 업무 보드 </a:t>
            </a:r>
            <a:r>
              <a:rPr lang="en-US" altLang="ko-KR" dirty="0"/>
              <a:t>-</a:t>
            </a:r>
            <a:r>
              <a:rPr lang="ko-KR" altLang="en-US" dirty="0"/>
              <a:t> 화면 기획 설계서</a:t>
            </a:r>
            <a:endParaRPr kumimoji="1"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652B9FD-BA78-8E2A-96A4-C838F2A9B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94709"/>
            <a:ext cx="10515600" cy="52743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87293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67D2AB-4BC1-6AC2-D8FC-2DE5DCEBA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내 업무 보드 </a:t>
            </a:r>
            <a:r>
              <a:rPr lang="en-US" altLang="ko-KR" dirty="0"/>
              <a:t>-</a:t>
            </a:r>
            <a:r>
              <a:rPr lang="ko-KR" altLang="en-US" dirty="0"/>
              <a:t> 화면 기획 설계서</a:t>
            </a:r>
            <a:endParaRPr kumimoji="1"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2EC5B9-A111-6D13-3265-3629586C1FC8}"/>
              </a:ext>
            </a:extLst>
          </p:cNvPr>
          <p:cNvSpPr txBox="1"/>
          <p:nvPr/>
        </p:nvSpPr>
        <p:spPr>
          <a:xfrm>
            <a:off x="838200" y="1160980"/>
            <a:ext cx="105156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1.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화면 개요 및 목적</a:t>
            </a:r>
          </a:p>
          <a:p>
            <a:pPr marL="179388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대상 유저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시스템에 로그인한 개별 실무 담당자 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PM)</a:t>
            </a:r>
          </a:p>
          <a:p>
            <a:pPr marL="179388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목적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"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오늘 내가 해야 할 일은 무엇인가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?", "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내가 책임지고 있는 긴급 이슈는 무엇인가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?"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에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대한 해답을 즉각적으로 제공하여 업무 누락을 방지하고 생산성을 높이는 개인화 대시보드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1100" dirty="0">
              <a:latin typeface="Paperlogy 4 Regular" pitchFamily="2" charset="-127"/>
              <a:ea typeface="Paperlogy 4 Regular" pitchFamily="2" charset="-127"/>
            </a:endParaRPr>
          </a:p>
          <a:p>
            <a:pPr>
              <a:buNone/>
            </a:pP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2.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데이터 연동 기준</a:t>
            </a:r>
          </a:p>
          <a:p>
            <a:pPr marL="179388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기준 식별자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세션에 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로그인된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사용자의 </a:t>
            </a:r>
            <a:r>
              <a:rPr lang="en" altLang="ko-KR" sz="1100" dirty="0" err="1">
                <a:latin typeface="Paperlogy 4 Regular" pitchFamily="2" charset="-127"/>
                <a:ea typeface="Paperlogy 4 Regular" pitchFamily="2" charset="-127"/>
              </a:rPr>
              <a:t>manager_id</a:t>
            </a:r>
            <a:endParaRPr lang="en" altLang="ko-KR" sz="1100" dirty="0">
              <a:latin typeface="Paperlogy 4 Regular" pitchFamily="2" charset="-127"/>
              <a:ea typeface="Paperlogy 4 Regular" pitchFamily="2" charset="-127"/>
            </a:endParaRPr>
          </a:p>
          <a:p>
            <a:pPr marL="179388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주요 대상 테이블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en" altLang="ko-KR" sz="1100" dirty="0" err="1">
                <a:latin typeface="Paperlogy 4 Regular" pitchFamily="2" charset="-127"/>
                <a:ea typeface="Paperlogy 4 Regular" pitchFamily="2" charset="-127"/>
              </a:rPr>
              <a:t>tb_activity_history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 (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활동 이력 및 이슈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)</a:t>
            </a:r>
          </a:p>
          <a:p>
            <a:pPr marL="179388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필터링 조건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완료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CLOSED)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되지 않은 오픈 이슈 및 오늘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Today)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날짜로 등록된 예정된 활동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CALL, MEETING)</a:t>
            </a:r>
          </a:p>
          <a:p>
            <a:pPr>
              <a:buNone/>
            </a:pPr>
            <a:endParaRPr lang="en" altLang="ko-KR" sz="1100" b="1" dirty="0">
              <a:latin typeface="Paperlogy 4 Regular" pitchFamily="2" charset="-127"/>
              <a:ea typeface="Paperlogy 4 Regular" pitchFamily="2" charset="-127"/>
            </a:endParaRPr>
          </a:p>
          <a:p>
            <a:pPr>
              <a:buNone/>
            </a:pP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3.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화면 레이아웃 및 주요 컴포넌트</a:t>
            </a:r>
          </a:p>
          <a:p>
            <a:pPr marL="179388">
              <a:buNone/>
            </a:pP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3.1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상단 요약 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Personal Metrics)</a:t>
            </a:r>
          </a:p>
          <a:p>
            <a:pPr marL="179388">
              <a:buNone/>
            </a:pP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담당자의 금일 업무 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부하량을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숫자로 직관적으로 보여줍니다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오늘 마감 이슈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처리 기한이 임박하거나 긴급으로 접수된 내 담당 이슈 건수 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Red Alert)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금일 예정 일정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오늘 처리해야 할 미팅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통화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현장 실사 건수 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Blue Alert)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나의 관리 고객사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현재 내가 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PM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으로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지정되어 있는 총 고객사 수</a:t>
            </a:r>
          </a:p>
          <a:p>
            <a:pPr marL="179388">
              <a:buNone/>
            </a:pP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3.2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내 담당 미처리 이슈 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Kanban Board)</a:t>
            </a:r>
          </a:p>
          <a:p>
            <a:pPr marL="179388">
              <a:buNone/>
            </a:pPr>
            <a:r>
              <a:rPr lang="en" altLang="ko-KR" sz="1100" dirty="0" err="1">
                <a:latin typeface="Paperlogy 4 Regular" pitchFamily="2" charset="-127"/>
                <a:ea typeface="Paperlogy 4 Regular" pitchFamily="2" charset="-127"/>
              </a:rPr>
              <a:t>tb_activity_history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중 </a:t>
            </a:r>
            <a:r>
              <a:rPr lang="en" altLang="ko-KR" sz="1100" dirty="0" err="1">
                <a:latin typeface="Paperlogy 4 Regular" pitchFamily="2" charset="-127"/>
                <a:ea typeface="Paperlogy 4 Regular" pitchFamily="2" charset="-127"/>
              </a:rPr>
              <a:t>activity_type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 = 'ISSUE'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인 항목들을 상태별로 관리합니다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UI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구조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접수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Open) → 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처리중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In Progress) →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보류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/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지연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Hold)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의 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3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단 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칸반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보드 형태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인터랙션 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PC):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마우스 드래그 앤 드롭으로 이슈 카드를 이동시켜 상태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 err="1">
                <a:latin typeface="Paperlogy 4 Regular" pitchFamily="2" charset="-127"/>
                <a:ea typeface="Paperlogy 4 Regular" pitchFamily="2" charset="-127"/>
              </a:rPr>
              <a:t>issue_status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)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를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직관적으로 변경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인터랙션 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모바일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):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좁은 화면을 고려하여 세로형 아코디언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Accordion)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뷰 또는 탭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Tab)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뷰로 전환되어 스크롤 최소화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카드 표시 정보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고객사명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이슈 요약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긴급도 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뱃지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접수 경과 시간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179388">
              <a:buNone/>
            </a:pP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3.3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오늘의 업무 타임라인 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Today's Tasks)</a:t>
            </a:r>
          </a:p>
          <a:p>
            <a:pPr marL="179388">
              <a:buNone/>
            </a:pPr>
            <a:r>
              <a:rPr lang="en" altLang="ko-KR" sz="1100" dirty="0" err="1">
                <a:latin typeface="Paperlogy 4 Regular" pitchFamily="2" charset="-127"/>
                <a:ea typeface="Paperlogy 4 Regular" pitchFamily="2" charset="-127"/>
              </a:rPr>
              <a:t>tb_activity_history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중 오늘 날짜로 예정된 활동들을 시간순으로 나열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UI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구조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체크박스가 포함된 리스트 형태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454025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주요 기능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endParaRPr lang="ko-KR" altLang="en-US" sz="1100" dirty="0">
              <a:latin typeface="Paperlogy 4 Regular" pitchFamily="2" charset="-127"/>
              <a:ea typeface="Paperlogy 4 Regular" pitchFamily="2" charset="-127"/>
            </a:endParaRPr>
          </a:p>
          <a:p>
            <a:pPr marL="454025" lvl="1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빠른 완료 처리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체크박스 클릭 시 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완료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'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상태로 변경되며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간략한 조치 결과를 입력할 수 있는 팝업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또는 인라인 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입력창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)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노출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454025" lvl="1">
              <a:buFont typeface="Arial" panose="020B0604020202020204" pitchFamily="34" charset="0"/>
              <a:buChar char="•"/>
            </a:pP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Click-to-Call (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모바일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):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일정 항목에 표시된 고객사 연락처 아이콘 터치 시 즉시 전화 연결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>
              <a:buNone/>
            </a:pPr>
            <a:endParaRPr lang="en-US" altLang="ko-KR" sz="1100" b="1" dirty="0">
              <a:latin typeface="Paperlogy 4 Regular" pitchFamily="2" charset="-127"/>
              <a:ea typeface="Paperlogy 4 Regular" pitchFamily="2" charset="-127"/>
            </a:endParaRPr>
          </a:p>
          <a:p>
            <a:pPr>
              <a:buNone/>
            </a:pP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4. </a:t>
            </a:r>
            <a:r>
              <a:rPr lang="en" altLang="ko-KR" sz="1100" b="1" dirty="0">
                <a:latin typeface="Paperlogy 4 Regular" pitchFamily="2" charset="-127"/>
                <a:ea typeface="Paperlogy 4 Regular" pitchFamily="2" charset="-127"/>
              </a:rPr>
              <a:t>UI/UX </a:t>
            </a: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디자인 원칙 적용</a:t>
            </a:r>
          </a:p>
          <a:p>
            <a:pPr marL="179388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포커스 유도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전사 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현황판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대시보드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)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이 거시적인 지표를 보여준다면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내 업무 보드는 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내가 당장 액션을 취해야 할 카드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'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에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그림자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Shadow)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나 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보더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en" altLang="ko-KR" sz="1100" dirty="0">
                <a:latin typeface="Paperlogy 4 Regular" pitchFamily="2" charset="-127"/>
                <a:ea typeface="Paperlogy 4 Regular" pitchFamily="2" charset="-127"/>
              </a:rPr>
              <a:t>Border)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포인트를 주어 시선 유도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marL="179388">
              <a:buFont typeface="Arial" panose="020B0604020202020204" pitchFamily="34" charset="0"/>
              <a:buChar char="•"/>
            </a:pPr>
            <a:r>
              <a:rPr lang="ko-KR" altLang="en-US" sz="1100" b="1" dirty="0">
                <a:latin typeface="Paperlogy 4 Regular" pitchFamily="2" charset="-127"/>
                <a:ea typeface="Paperlogy 4 Regular" pitchFamily="2" charset="-127"/>
              </a:rPr>
              <a:t>미니멀리즘 유지</a:t>
            </a:r>
            <a:r>
              <a:rPr lang="en-US" altLang="ko-KR" sz="1100" b="1" dirty="0">
                <a:latin typeface="Paperlogy 4 Regular" pitchFamily="2" charset="-127"/>
                <a:ea typeface="Paperlogy 4 Regular" pitchFamily="2" charset="-127"/>
              </a:rPr>
              <a:t>: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불필요한 장식을 배제하고 상태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긴급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-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빨강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진행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-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노랑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완료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-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초록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)</a:t>
            </a:r>
            <a:r>
              <a:rPr lang="ko-KR" altLang="en-US" sz="1100" dirty="0" err="1">
                <a:latin typeface="Paperlogy 4 Regular" pitchFamily="2" charset="-127"/>
                <a:ea typeface="Paperlogy 4 Regular" pitchFamily="2" charset="-127"/>
              </a:rPr>
              <a:t>를</a:t>
            </a:r>
            <a:r>
              <a:rPr lang="ko-KR" altLang="en-US" sz="1100" dirty="0">
                <a:latin typeface="Paperlogy 4 Regular" pitchFamily="2" charset="-127"/>
                <a:ea typeface="Paperlogy 4 Regular" pitchFamily="2" charset="-127"/>
              </a:rPr>
              <a:t> 나타내는 최소한의 색상만 사용하여 피로도 저감</a:t>
            </a:r>
            <a:r>
              <a:rPr lang="en-US" altLang="ko-KR" sz="11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85940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64B13-6943-EFCC-D041-BA251E25D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고객사 마스터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F081DC-D0EF-2957-F027-7DF8B9E00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96440"/>
            <a:ext cx="10515600" cy="34167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709370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AA34C2-D38E-C605-1D7F-6D5E997B8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자산 및 연동 현황</a:t>
            </a:r>
            <a:endParaRPr kumimoji="1"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E88A2D2-FEF6-D4ED-F4EB-ACDD3B5F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52090"/>
            <a:ext cx="10511262" cy="37365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33062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350084-0928-4D8D-6F16-D54B3D793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상담 관제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00FA9F-A386-D719-313F-348A80379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5143"/>
            <a:ext cx="10515600" cy="52190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869677B-6459-47B5-241F-1E5576A42E15}"/>
              </a:ext>
            </a:extLst>
          </p:cNvPr>
          <p:cNvSpPr txBox="1"/>
          <p:nvPr/>
        </p:nvSpPr>
        <p:spPr>
          <a:xfrm>
            <a:off x="7679681" y="1016710"/>
            <a:ext cx="28151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담당자 배정여부</a:t>
            </a:r>
            <a:r>
              <a:rPr kumimoji="1" lang="en-US" altLang="ko-KR" dirty="0"/>
              <a:t>?</a:t>
            </a:r>
            <a:r>
              <a:rPr kumimoji="1" lang="ko-KR" altLang="en-US" dirty="0"/>
              <a:t> 전체</a:t>
            </a:r>
            <a:endParaRPr kumimoji="1" lang="en-US" altLang="ko-KR" dirty="0"/>
          </a:p>
          <a:p>
            <a:r>
              <a:rPr kumimoji="1" lang="ko-KR" altLang="en-US" dirty="0"/>
              <a:t>카톡 직원 개입도 </a:t>
            </a:r>
            <a:r>
              <a:rPr kumimoji="1" lang="en-US" altLang="ko-KR" dirty="0">
                <a:sym typeface="Wingdings" pitchFamily="2" charset="2"/>
              </a:rPr>
              <a:t></a:t>
            </a:r>
            <a:r>
              <a:rPr kumimoji="1" lang="ko-KR" altLang="en-US" dirty="0">
                <a:sym typeface="Wingdings" pitchFamily="2" charset="2"/>
              </a:rPr>
              <a:t> 전체</a:t>
            </a:r>
            <a:endParaRPr kumimoji="1"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47886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D666C-242B-9979-C68C-F1DBB9E9C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영업 활동 이력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F1D7A5-510F-83E9-2E6B-EFB1EF5A3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66115"/>
            <a:ext cx="10515600" cy="23884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8652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4B3923-C7C2-9590-369B-F4A74432A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감축 사업 관리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DECB77-070F-F3B3-2A17-C344307FC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57952"/>
            <a:ext cx="10515600" cy="35420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5444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88FF1-8F71-B400-143E-8358B1FE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고객사별 정산 현황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ABB5B3D-5313-5120-AEF8-F732D2831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22147"/>
            <a:ext cx="10514903" cy="36346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00627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ABA7EA-4CDB-DB15-0750-03F2C5788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060684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EC666-9645-788B-CD48-8832D1576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465994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096C3A-2328-C599-E05D-B682A761C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165696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4A5B5-C082-FDE2-E588-6ACA7C30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7F8056-4B77-B677-23EC-AC5DB1039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대시보드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AD8D1D-3265-9E5E-D3F0-E74014780C0F}"/>
              </a:ext>
            </a:extLst>
          </p:cNvPr>
          <p:cNvSpPr/>
          <p:nvPr/>
        </p:nvSpPr>
        <p:spPr>
          <a:xfrm>
            <a:off x="2149208" y="2527347"/>
            <a:ext cx="1541442" cy="33821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 sz="110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B35D42-9CC1-8A7F-BDC8-E0E8CD925D7F}"/>
              </a:ext>
            </a:extLst>
          </p:cNvPr>
          <p:cNvSpPr/>
          <p:nvPr/>
        </p:nvSpPr>
        <p:spPr>
          <a:xfrm>
            <a:off x="3690650" y="1998538"/>
            <a:ext cx="6533001" cy="5288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 sz="110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3703CBA-C895-54E2-9A45-0964C34E15E0}"/>
              </a:ext>
            </a:extLst>
          </p:cNvPr>
          <p:cNvSpPr/>
          <p:nvPr/>
        </p:nvSpPr>
        <p:spPr>
          <a:xfrm>
            <a:off x="2149208" y="5909525"/>
            <a:ext cx="1541442" cy="3176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 sz="1100" dirty="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23D482-EC99-EAB9-766E-2F177DC04963}"/>
              </a:ext>
            </a:extLst>
          </p:cNvPr>
          <p:cNvSpPr/>
          <p:nvPr/>
        </p:nvSpPr>
        <p:spPr>
          <a:xfrm>
            <a:off x="3690649" y="2527347"/>
            <a:ext cx="6533001" cy="36998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 sz="110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EE0D991-08E3-69BE-2F75-9D7D40A79854}"/>
              </a:ext>
            </a:extLst>
          </p:cNvPr>
          <p:cNvSpPr/>
          <p:nvPr/>
        </p:nvSpPr>
        <p:spPr>
          <a:xfrm>
            <a:off x="3822852" y="2114214"/>
            <a:ext cx="2423711" cy="297456"/>
          </a:xfrm>
          <a:prstGeom prst="roundRect">
            <a:avLst>
              <a:gd name="adj" fmla="val 38625"/>
            </a:avLst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ko-KR" altLang="en-US" sz="1100" dirty="0">
                <a:solidFill>
                  <a:schemeClr val="bg1">
                    <a:lumMod val="65000"/>
                  </a:schemeClr>
                </a:solidFill>
                <a:latin typeface="Paperlogy 4 Regular" pitchFamily="2" charset="-127"/>
                <a:ea typeface="Paperlogy 4 Regular" pitchFamily="2" charset="-127"/>
              </a:rPr>
              <a:t>고객사명</a:t>
            </a:r>
            <a:r>
              <a:rPr kumimoji="1" lang="en-US" altLang="ko-KR" sz="1100" dirty="0">
                <a:solidFill>
                  <a:schemeClr val="bg1">
                    <a:lumMod val="65000"/>
                  </a:schemeClr>
                </a:solidFill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kumimoji="1" lang="ko-KR" altLang="en-US" sz="1100" dirty="0">
                <a:solidFill>
                  <a:schemeClr val="bg1">
                    <a:lumMod val="65000"/>
                  </a:schemeClr>
                </a:solidFill>
                <a:latin typeface="Paperlogy 4 Regular" pitchFamily="2" charset="-127"/>
                <a:ea typeface="Paperlogy 4 Regular" pitchFamily="2" charset="-127"/>
              </a:rPr>
              <a:t> 연락처</a:t>
            </a:r>
            <a:r>
              <a:rPr kumimoji="1" lang="en-US" altLang="ko-KR" sz="1100" dirty="0">
                <a:solidFill>
                  <a:schemeClr val="bg1">
                    <a:lumMod val="65000"/>
                  </a:schemeClr>
                </a:solidFill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kumimoji="1" lang="ko-KR" altLang="en-US" sz="1100" dirty="0">
                <a:solidFill>
                  <a:schemeClr val="bg1">
                    <a:lumMod val="65000"/>
                  </a:schemeClr>
                </a:solidFill>
                <a:latin typeface="Paperlogy 4 Regular" pitchFamily="2" charset="-127"/>
                <a:ea typeface="Paperlogy 4 Regular" pitchFamily="2" charset="-127"/>
              </a:rPr>
              <a:t> 사업자번호 검색 </a:t>
            </a:r>
            <a:r>
              <a:rPr kumimoji="1" lang="en-US" altLang="ko-KR" sz="1100" dirty="0">
                <a:solidFill>
                  <a:schemeClr val="bg1">
                    <a:lumMod val="65000"/>
                  </a:schemeClr>
                </a:solidFill>
                <a:latin typeface="Paperlogy 4 Regular" pitchFamily="2" charset="-127"/>
                <a:ea typeface="Paperlogy 4 Regular" pitchFamily="2" charset="-127"/>
              </a:rPr>
              <a:t>…</a:t>
            </a:r>
            <a:endParaRPr kumimoji="1" lang="ko-KR" altLang="en-US" sz="1100" dirty="0">
              <a:solidFill>
                <a:schemeClr val="bg1">
                  <a:lumMod val="65000"/>
                </a:schemeClr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B0C26AEA-F329-D941-23DB-249B32E6B136}"/>
              </a:ext>
            </a:extLst>
          </p:cNvPr>
          <p:cNvSpPr/>
          <p:nvPr/>
        </p:nvSpPr>
        <p:spPr>
          <a:xfrm>
            <a:off x="9066882" y="2114214"/>
            <a:ext cx="1064045" cy="297456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ko-KR" altLang="en-US" sz="1100" dirty="0">
                <a:latin typeface="Paperlogy 4 Regular" pitchFamily="2" charset="-127"/>
                <a:ea typeface="Paperlogy 4 Regular" pitchFamily="2" charset="-127"/>
              </a:rPr>
              <a:t>접속 담당자명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D9BD856-9B63-085C-C83B-DCB5C2FA98FF}"/>
              </a:ext>
            </a:extLst>
          </p:cNvPr>
          <p:cNvSpPr/>
          <p:nvPr/>
        </p:nvSpPr>
        <p:spPr>
          <a:xfrm>
            <a:off x="7523144" y="2114214"/>
            <a:ext cx="773017" cy="297456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ko-KR" altLang="en-US" sz="1100" dirty="0">
                <a:latin typeface="Paperlogy 4 Regular" pitchFamily="2" charset="-127"/>
                <a:ea typeface="Paperlogy 4 Regular" pitchFamily="2" charset="-127"/>
              </a:rPr>
              <a:t>보안모드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7C92451-D113-B421-8A07-3113D823D97D}"/>
              </a:ext>
            </a:extLst>
          </p:cNvPr>
          <p:cNvSpPr/>
          <p:nvPr/>
        </p:nvSpPr>
        <p:spPr>
          <a:xfrm>
            <a:off x="8296162" y="2161036"/>
            <a:ext cx="332582" cy="20381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 sz="1100" dirty="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1FD2128A-3FD1-8779-1BAE-A865C5F2D51F}"/>
              </a:ext>
            </a:extLst>
          </p:cNvPr>
          <p:cNvSpPr/>
          <p:nvPr/>
        </p:nvSpPr>
        <p:spPr>
          <a:xfrm>
            <a:off x="8428143" y="2161036"/>
            <a:ext cx="203201" cy="20381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 sz="1100" dirty="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EE64452-91EC-7E14-F50E-4B9C61559539}"/>
              </a:ext>
            </a:extLst>
          </p:cNvPr>
          <p:cNvSpPr/>
          <p:nvPr/>
        </p:nvSpPr>
        <p:spPr>
          <a:xfrm>
            <a:off x="2149208" y="1998538"/>
            <a:ext cx="1541442" cy="5288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 sz="110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87090B-5617-D615-244D-DD638A6F482B}"/>
              </a:ext>
            </a:extLst>
          </p:cNvPr>
          <p:cNvSpPr txBox="1"/>
          <p:nvPr/>
        </p:nvSpPr>
        <p:spPr>
          <a:xfrm>
            <a:off x="6578096" y="1472875"/>
            <a:ext cx="2897437" cy="4616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ko-KR" altLang="en-US" sz="800" dirty="0" err="1">
                <a:latin typeface="Paperlogy 4 Regular" pitchFamily="2" charset="-127"/>
                <a:ea typeface="Paperlogy 4 Regular" pitchFamily="2" charset="-127"/>
              </a:rPr>
              <a:t>보안모드란</a:t>
            </a:r>
            <a:r>
              <a:rPr kumimoji="1" lang="en-US" altLang="ko-KR" sz="800" dirty="0">
                <a:latin typeface="Paperlogy 4 Regular" pitchFamily="2" charset="-127"/>
                <a:ea typeface="Paperlogy 4 Regular" pitchFamily="2" charset="-127"/>
              </a:rPr>
              <a:t>?</a:t>
            </a:r>
            <a:r>
              <a:rPr kumimoji="1" lang="ko-KR" altLang="en-US" sz="800" dirty="0">
                <a:latin typeface="Paperlogy 4 Regular" pitchFamily="2" charset="-127"/>
                <a:ea typeface="Paperlogy 4 Regular" pitchFamily="2" charset="-127"/>
              </a:rPr>
              <a:t> </a:t>
            </a:r>
            <a:endParaRPr kumimoji="1" lang="en-US" altLang="ko-KR" sz="800" dirty="0">
              <a:latin typeface="Paperlogy 4 Regular" pitchFamily="2" charset="-127"/>
              <a:ea typeface="Paperlogy 4 Regular" pitchFamily="2" charset="-127"/>
            </a:endParaRPr>
          </a:p>
          <a:p>
            <a:r>
              <a:rPr kumimoji="1" lang="ko-KR" altLang="en-US" sz="800" dirty="0">
                <a:latin typeface="Paperlogy 4 Regular" pitchFamily="2" charset="-127"/>
                <a:ea typeface="Paperlogy 4 Regular" pitchFamily="2" charset="-127"/>
              </a:rPr>
              <a:t>민감한 금액</a:t>
            </a:r>
            <a:r>
              <a:rPr kumimoji="1" lang="en-US" altLang="ko-KR" sz="800" dirty="0"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kumimoji="1" lang="ko-KR" altLang="en-US" sz="800" dirty="0">
                <a:latin typeface="Paperlogy 4 Regular" pitchFamily="2" charset="-127"/>
                <a:ea typeface="Paperlogy 4 Regular" pitchFamily="2" charset="-127"/>
              </a:rPr>
              <a:t> 지분율</a:t>
            </a:r>
            <a:r>
              <a:rPr kumimoji="1" lang="en-US" altLang="ko-KR" sz="800" dirty="0"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kumimoji="1" lang="ko-KR" altLang="en-US" sz="800" dirty="0">
                <a:latin typeface="Paperlogy 4 Regular" pitchFamily="2" charset="-127"/>
                <a:ea typeface="Paperlogy 4 Regular" pitchFamily="2" charset="-127"/>
              </a:rPr>
              <a:t> 배출량 등에 대해 외부인이 화면을 통해 </a:t>
            </a:r>
            <a:r>
              <a:rPr kumimoji="1" lang="ko-KR" altLang="en-US" sz="800" dirty="0" err="1">
                <a:latin typeface="Paperlogy 4 Regular" pitchFamily="2" charset="-127"/>
                <a:ea typeface="Paperlogy 4 Regular" pitchFamily="2" charset="-127"/>
              </a:rPr>
              <a:t>알수</a:t>
            </a:r>
            <a:r>
              <a:rPr kumimoji="1" lang="ko-KR" altLang="en-US" sz="800" dirty="0">
                <a:latin typeface="Paperlogy 4 Regular" pitchFamily="2" charset="-127"/>
                <a:ea typeface="Paperlogy 4 Regular" pitchFamily="2" charset="-127"/>
              </a:rPr>
              <a:t> 없도록 기본 필수 모드로 설정</a:t>
            </a:r>
            <a:r>
              <a:rPr kumimoji="1" lang="en-US" altLang="ko-KR" sz="800" dirty="0"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kumimoji="1" lang="ko-KR" altLang="en-US" sz="800" dirty="0">
                <a:latin typeface="Paperlogy 4 Regular" pitchFamily="2" charset="-127"/>
                <a:ea typeface="Paperlogy 4 Regular" pitchFamily="2" charset="-127"/>
              </a:rPr>
              <a:t> 보고 싶을 클릭 뷰 한 후 </a:t>
            </a:r>
            <a:r>
              <a:rPr kumimoji="1" lang="en-US" altLang="ko-KR" sz="800" dirty="0">
                <a:latin typeface="Paperlogy 4 Regular" pitchFamily="2" charset="-127"/>
                <a:ea typeface="Paperlogy 4 Regular" pitchFamily="2" charset="-127"/>
              </a:rPr>
              <a:t>5</a:t>
            </a:r>
            <a:r>
              <a:rPr kumimoji="1" lang="ko-KR" altLang="en-US" sz="800" dirty="0" err="1">
                <a:latin typeface="Paperlogy 4 Regular" pitchFamily="2" charset="-127"/>
                <a:ea typeface="Paperlogy 4 Regular" pitchFamily="2" charset="-127"/>
              </a:rPr>
              <a:t>초후</a:t>
            </a:r>
            <a:r>
              <a:rPr kumimoji="1" lang="ko-KR" altLang="en-US" sz="800" dirty="0">
                <a:latin typeface="Paperlogy 4 Regular" pitchFamily="2" charset="-127"/>
                <a:ea typeface="Paperlogy 4 Regular" pitchFamily="2" charset="-127"/>
              </a:rPr>
              <a:t> 자동 숨김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BDC85DD-5446-EE4C-ECCF-772847C8AC5C}"/>
              </a:ext>
            </a:extLst>
          </p:cNvPr>
          <p:cNvSpPr/>
          <p:nvPr/>
        </p:nvSpPr>
        <p:spPr>
          <a:xfrm>
            <a:off x="3822852" y="3952355"/>
            <a:ext cx="1733107" cy="2104851"/>
          </a:xfrm>
          <a:prstGeom prst="roundRect">
            <a:avLst>
              <a:gd name="adj" fmla="val 780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ko-KR" altLang="en-US" sz="1400" dirty="0">
                <a:latin typeface="Paperlogy 4 Regular" pitchFamily="2" charset="-127"/>
                <a:ea typeface="Paperlogy 4 Regular" pitchFamily="2" charset="-127"/>
              </a:rPr>
              <a:t>전국</a:t>
            </a:r>
            <a:endParaRPr kumimoji="1" lang="en-US" altLang="ko-KR" sz="1400" dirty="0">
              <a:latin typeface="Paperlogy 4 Regular" pitchFamily="2" charset="-127"/>
              <a:ea typeface="Paperlogy 4 Regular" pitchFamily="2" charset="-127"/>
            </a:endParaRPr>
          </a:p>
          <a:p>
            <a:pPr algn="ctr"/>
            <a:r>
              <a:rPr kumimoji="1" lang="ko-KR" altLang="en-US" sz="1400" dirty="0">
                <a:latin typeface="Paperlogy 4 Regular" pitchFamily="2" charset="-127"/>
                <a:ea typeface="Paperlogy 4 Regular" pitchFamily="2" charset="-127"/>
              </a:rPr>
              <a:t>지도</a:t>
            </a:r>
            <a:endParaRPr kumimoji="1" lang="en-US" altLang="ko-KR" sz="1400" dirty="0">
              <a:latin typeface="Paperlogy 4 Regular" pitchFamily="2" charset="-127"/>
              <a:ea typeface="Paperlogy 4 Regular" pitchFamily="2" charset="-127"/>
            </a:endParaRPr>
          </a:p>
          <a:p>
            <a:pPr algn="ctr"/>
            <a:r>
              <a:rPr kumimoji="1" lang="ko-KR" altLang="en-US" sz="1400" dirty="0">
                <a:latin typeface="Paperlogy 4 Regular" pitchFamily="2" charset="-127"/>
                <a:ea typeface="Paperlogy 4 Regular" pitchFamily="2" charset="-127"/>
              </a:rPr>
              <a:t>현황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4270843-1BFD-6DCD-D81F-D124BC51FB9A}"/>
              </a:ext>
            </a:extLst>
          </p:cNvPr>
          <p:cNvSpPr/>
          <p:nvPr/>
        </p:nvSpPr>
        <p:spPr>
          <a:xfrm>
            <a:off x="3822851" y="2755510"/>
            <a:ext cx="3067047" cy="1081168"/>
          </a:xfrm>
          <a:prstGeom prst="roundRect">
            <a:avLst>
              <a:gd name="adj" fmla="val 780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ko-KR" altLang="en-US" sz="1400" dirty="0">
                <a:latin typeface="Paperlogy 4 Regular" pitchFamily="2" charset="-127"/>
                <a:ea typeface="Paperlogy 4 Regular" pitchFamily="2" charset="-127"/>
              </a:rPr>
              <a:t>금일 고객</a:t>
            </a:r>
            <a:endParaRPr kumimoji="1" lang="en-US" altLang="ko-KR" sz="1400" dirty="0">
              <a:latin typeface="Paperlogy 4 Regular" pitchFamily="2" charset="-127"/>
              <a:ea typeface="Paperlogy 4 Regular" pitchFamily="2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1400" dirty="0">
                <a:latin typeface="Paperlogy 4 Regular" pitchFamily="2" charset="-127"/>
                <a:ea typeface="Paperlogy 4 Regular" pitchFamily="2" charset="-127"/>
              </a:rPr>
              <a:t>관리 일정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31718D3-2F17-F5D5-4F45-C74822823855}"/>
              </a:ext>
            </a:extLst>
          </p:cNvPr>
          <p:cNvSpPr/>
          <p:nvPr/>
        </p:nvSpPr>
        <p:spPr>
          <a:xfrm>
            <a:off x="6996219" y="2755510"/>
            <a:ext cx="3067047" cy="1081168"/>
          </a:xfrm>
          <a:prstGeom prst="roundRect">
            <a:avLst>
              <a:gd name="adj" fmla="val 780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ko-KR" altLang="en-US" sz="1400" dirty="0">
                <a:latin typeface="Paperlogy 4 Regular" pitchFamily="2" charset="-127"/>
                <a:ea typeface="Paperlogy 4 Regular" pitchFamily="2" charset="-127"/>
              </a:rPr>
              <a:t>고객사 주요 이슈 사항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169CF372-2408-EDE9-6507-A37252BB11FB}"/>
              </a:ext>
            </a:extLst>
          </p:cNvPr>
          <p:cNvSpPr/>
          <p:nvPr/>
        </p:nvSpPr>
        <p:spPr>
          <a:xfrm>
            <a:off x="8485336" y="5231219"/>
            <a:ext cx="1577930" cy="837132"/>
          </a:xfrm>
          <a:prstGeom prst="roundRect">
            <a:avLst>
              <a:gd name="adj" fmla="val 780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ko-KR" sz="1400" dirty="0">
                <a:latin typeface="Paperlogy 4 Regular" pitchFamily="2" charset="-127"/>
                <a:ea typeface="Paperlogy 4 Regular" pitchFamily="2" charset="-127"/>
              </a:rPr>
              <a:t>DB </a:t>
            </a:r>
            <a:r>
              <a:rPr kumimoji="1" lang="ko-KR" altLang="en-US" sz="1400" dirty="0">
                <a:latin typeface="Paperlogy 4 Regular" pitchFamily="2" charset="-127"/>
                <a:ea typeface="Paperlogy 4 Regular" pitchFamily="2" charset="-127"/>
              </a:rPr>
              <a:t>백업 및 복구 현황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500F3B-B58C-8C82-827A-B280A09F0DBE}"/>
              </a:ext>
            </a:extLst>
          </p:cNvPr>
          <p:cNvSpPr txBox="1"/>
          <p:nvPr/>
        </p:nvSpPr>
        <p:spPr>
          <a:xfrm>
            <a:off x="2229234" y="290226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1400" b="1" dirty="0"/>
              <a:t>대시보드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B227A8-4510-8C53-0B26-42D96488ADE8}"/>
              </a:ext>
            </a:extLst>
          </p:cNvPr>
          <p:cNvSpPr txBox="1"/>
          <p:nvPr/>
        </p:nvSpPr>
        <p:spPr>
          <a:xfrm>
            <a:off x="2229234" y="3383525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1400" b="1" dirty="0"/>
              <a:t>고객사 마스터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11D244-FABC-413A-98D7-B7236F4C36D5}"/>
              </a:ext>
            </a:extLst>
          </p:cNvPr>
          <p:cNvSpPr txBox="1"/>
          <p:nvPr/>
        </p:nvSpPr>
        <p:spPr>
          <a:xfrm>
            <a:off x="2229234" y="3860461"/>
            <a:ext cx="13869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1400" b="1" dirty="0"/>
              <a:t>고객 관리 이력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5E8F6C-10AF-2A65-DD0C-E66FE5082698}"/>
              </a:ext>
            </a:extLst>
          </p:cNvPr>
          <p:cNvSpPr txBox="1"/>
          <p:nvPr/>
        </p:nvSpPr>
        <p:spPr>
          <a:xfrm>
            <a:off x="2229234" y="4338748"/>
            <a:ext cx="13869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1400" b="1" dirty="0"/>
              <a:t>고객 관련 문서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D88AF1-4646-A49D-FBBA-11FEA9905B5B}"/>
              </a:ext>
            </a:extLst>
          </p:cNvPr>
          <p:cNvSpPr txBox="1"/>
          <p:nvPr/>
        </p:nvSpPr>
        <p:spPr>
          <a:xfrm>
            <a:off x="2237630" y="4817035"/>
            <a:ext cx="13869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1400" b="1" dirty="0"/>
              <a:t>고객 대응 전략</a:t>
            </a:r>
          </a:p>
        </p:txBody>
      </p:sp>
    </p:spTree>
    <p:extLst>
      <p:ext uri="{BB962C8B-B14F-4D97-AF65-F5344CB8AC3E}">
        <p14:creationId xmlns:p14="http://schemas.microsoft.com/office/powerpoint/2010/main" val="1723984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6191C3-01EB-1C24-5721-32E4EB788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442602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51E49-28C8-3F40-B7CD-5166A176B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고객사 마스터 </a:t>
            </a:r>
            <a:r>
              <a:rPr kumimoji="1" lang="en-US" altLang="ko-KR" dirty="0"/>
              <a:t>–</a:t>
            </a:r>
            <a:r>
              <a:rPr kumimoji="1" lang="ko-KR" altLang="en-US" dirty="0"/>
              <a:t> 메인 페이지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3EEEAD-A061-E0C6-1AF6-8F4856E18558}"/>
              </a:ext>
            </a:extLst>
          </p:cNvPr>
          <p:cNvSpPr txBox="1"/>
          <p:nvPr/>
        </p:nvSpPr>
        <p:spPr>
          <a:xfrm>
            <a:off x="838199" y="1127252"/>
            <a:ext cx="105155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고객 정보와 설비 제원을 중앙화하고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조건에 맞게 필터링 조회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6D352A-7512-A6B0-7D9C-4CD9510245D3}"/>
              </a:ext>
            </a:extLst>
          </p:cNvPr>
          <p:cNvSpPr txBox="1"/>
          <p:nvPr/>
        </p:nvSpPr>
        <p:spPr>
          <a:xfrm>
            <a:off x="838199" y="2222205"/>
            <a:ext cx="35365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dirty="0"/>
              <a:t>고객사 리스트 </a:t>
            </a:r>
            <a:r>
              <a:rPr kumimoji="1" lang="en-US" altLang="ko-KR" dirty="0"/>
              <a:t>(</a:t>
            </a:r>
            <a:r>
              <a:rPr kumimoji="1" lang="ko-KR" altLang="en-US" dirty="0" err="1"/>
              <a:t>운수사</a:t>
            </a:r>
            <a:r>
              <a:rPr kumimoji="1" lang="en-US" altLang="ko-KR" dirty="0"/>
              <a:t>,</a:t>
            </a:r>
            <a:r>
              <a:rPr kumimoji="1" lang="ko-KR" altLang="en-US" dirty="0"/>
              <a:t> 건물</a:t>
            </a:r>
            <a:r>
              <a:rPr kumimoji="1" lang="en-US" altLang="ko-KR" dirty="0"/>
              <a:t>,</a:t>
            </a:r>
            <a:r>
              <a:rPr kumimoji="1" lang="ko-KR" altLang="en-US" dirty="0"/>
              <a:t> 등</a:t>
            </a:r>
            <a:r>
              <a:rPr kumimoji="1" lang="en-US" altLang="ko-KR" dirty="0"/>
              <a:t>)</a:t>
            </a:r>
            <a:endParaRPr kumimoji="1" lang="ko-KR" altLang="en-US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91329B0-D7A0-7A51-F1E4-E60C57A37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186128"/>
              </p:ext>
            </p:extLst>
          </p:nvPr>
        </p:nvGraphicFramePr>
        <p:xfrm>
          <a:off x="838199" y="3153944"/>
          <a:ext cx="812800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229743771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1663076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98573250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25418068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82894828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9742339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고객사명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유형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지역구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담당자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계약여부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계약유형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009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>
                          <a:latin typeface="Paperlogy 4 Regular" pitchFamily="2" charset="-127"/>
                          <a:ea typeface="Paperlogy 4 Regular" pitchFamily="2" charset="-127"/>
                        </a:rPr>
                        <a:t>운수사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서울시 은평구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2021.06.01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직접 계약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7476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대도운수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택시조합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-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조합 일괄 계약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87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건물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070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IKEA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>
                          <a:latin typeface="Paperlogy 4 Regular" pitchFamily="2" charset="-127"/>
                          <a:ea typeface="Paperlogy 4 Regular" pitchFamily="2" charset="-127"/>
                        </a:rPr>
                        <a:t>물류사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경기도 광명시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꽃님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2024.01.10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직접 계약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1095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32013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0596F-7CD4-B562-4BF5-42D32607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6693F8-B712-BACF-DC5E-7D375C6C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고객사 마스터 </a:t>
            </a:r>
            <a:r>
              <a:rPr kumimoji="1" lang="en-US" altLang="ko-KR" dirty="0"/>
              <a:t>–</a:t>
            </a:r>
            <a:r>
              <a:rPr kumimoji="1" lang="ko-KR" altLang="en-US" dirty="0"/>
              <a:t> 등록 페이지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BC7602-49F7-6DAD-2F56-729AFECA8650}"/>
              </a:ext>
            </a:extLst>
          </p:cNvPr>
          <p:cNvSpPr txBox="1"/>
          <p:nvPr/>
        </p:nvSpPr>
        <p:spPr>
          <a:xfrm>
            <a:off x="838199" y="1127252"/>
            <a:ext cx="1051559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등록 페이지는 엑셀 형태에서 직접 등록 및 수정 가능하거나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lang="ko-KR" altLang="en-US" sz="1400" dirty="0">
                <a:latin typeface="Paperlogy 4 Regular" pitchFamily="2" charset="-127"/>
                <a:ea typeface="Paperlogy 4 Regular" pitchFamily="2" charset="-127"/>
              </a:rPr>
              <a:t> 양식 엑셀을 수정해서 업로드 시 수정이 가능하게 하면 업무 편의상 좋다</a:t>
            </a:r>
            <a:r>
              <a:rPr lang="en-US" altLang="ko-KR" sz="1400" dirty="0">
                <a:latin typeface="Paperlogy 4 Regular" pitchFamily="2" charset="-127"/>
                <a:ea typeface="Paperlogy 4 Regular" pitchFamily="2" charset="-127"/>
              </a:rPr>
              <a:t>.</a:t>
            </a:r>
          </a:p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현재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초기 개발에서는 그리드 형태에서 직접 등록 수정만 가능하게 하고 차후 고도화에서 엑셀 업로드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기존 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DB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업데이트 처리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 신규 처리 등 논리화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)</a:t>
            </a:r>
          </a:p>
          <a:p>
            <a:pPr algn="just">
              <a:buNone/>
            </a:pPr>
            <a:endParaRPr lang="en-US" altLang="ko-KR" sz="1400" dirty="0">
              <a:latin typeface="Paperlogy 4 Regular" pitchFamily="2" charset="-127"/>
              <a:ea typeface="Paperlogy 4 Regular" pitchFamily="2" charset="-127"/>
            </a:endParaRPr>
          </a:p>
          <a:p>
            <a:pPr algn="just">
              <a:buNone/>
            </a:pPr>
            <a:endParaRPr lang="en-US" altLang="ko-KR" sz="1400" dirty="0">
              <a:effectLst/>
              <a:latin typeface="Paperlogy 4 Regular" pitchFamily="2" charset="-127"/>
              <a:ea typeface="Paperlogy 4 Regular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10B17D3-A006-A56B-5EFA-C64D07BAA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53421"/>
              </p:ext>
            </p:extLst>
          </p:nvPr>
        </p:nvGraphicFramePr>
        <p:xfrm>
          <a:off x="838198" y="3604000"/>
          <a:ext cx="10515600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29743771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663076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857325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25418068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82894828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74233970"/>
                    </a:ext>
                  </a:extLst>
                </a:gridCol>
              </a:tblGrid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고객사 기본 정보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 (1)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=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 업체코드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009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업체명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사업자 등록번호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대표자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7476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지역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권역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select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소속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조합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주소지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address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587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대표자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대표 연락처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phone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대표 이메일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email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2070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담당자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담당 연락처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phone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담당 이메일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email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1095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관리 시스템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select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ID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보안모드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PS (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보안모드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2344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사업자등록증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계약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ACTIVE(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진행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), </a:t>
                      </a:r>
                      <a:r>
                        <a:rPr lang="en" altLang="ko-KR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HOLD(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보류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), </a:t>
                      </a:r>
                      <a:r>
                        <a:rPr lang="en" altLang="ko-KR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END(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종료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effectLst/>
                          <a:latin typeface="Paperlogy 4 Regular" pitchFamily="2" charset="-127"/>
                          <a:ea typeface="Paperlogy 4 Regular" pitchFamily="2" charset="-127"/>
                          <a:cs typeface="+mn-cs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계약 일자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date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3806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고객 주요 니즈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text(L)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고객 유형 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보안모드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text(L)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주요 결정권자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53149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51007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68C334-B46C-34F8-63FE-CDD192F15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고객사 마스터 </a:t>
            </a:r>
            <a:r>
              <a:rPr kumimoji="1" lang="en-US" altLang="ko-KR" dirty="0"/>
              <a:t>–</a:t>
            </a:r>
            <a:r>
              <a:rPr kumimoji="1" lang="ko-KR" altLang="en-US" dirty="0"/>
              <a:t> 활동 및 이력 기록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22EE6CF-941E-2D1C-7BF3-607F02C5E2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806298"/>
              </p:ext>
            </p:extLst>
          </p:nvPr>
        </p:nvGraphicFramePr>
        <p:xfrm>
          <a:off x="838200" y="1272731"/>
          <a:ext cx="10515600" cy="314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7354576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28948089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9463579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9348678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3583046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640207571"/>
                    </a:ext>
                  </a:extLst>
                </a:gridCol>
              </a:tblGrid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고객 관리 정보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(n)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&lt;-&gt;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업체코드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741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>
                          <a:latin typeface="Paperlogy 4 Regular" pitchFamily="2" charset="-127"/>
                          <a:ea typeface="Paperlogy 4 Regular" pitchFamily="2" charset="-127"/>
                        </a:rPr>
                        <a:t>컨텍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 일시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2026.01.01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02:10</a:t>
                      </a:r>
                      <a:endParaRPr lang="ko-KR" altLang="en-US" sz="10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>
                          <a:latin typeface="Paperlogy 4 Regular" pitchFamily="2" charset="-127"/>
                          <a:ea typeface="Paperlogy 4 Regular" pitchFamily="2" charset="-127"/>
                        </a:rPr>
                        <a:t>컨택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 유형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전화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메일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카카오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미팅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>
                          <a:latin typeface="Paperlogy 4 Regular" pitchFamily="2" charset="-127"/>
                          <a:ea typeface="Paperlogy 4 Regular" pitchFamily="2" charset="-127"/>
                        </a:rPr>
                        <a:t>컨택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 결과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완료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미흡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보류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이전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911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내부 담당자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고객 담당자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이외 참석자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811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주요 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이슈 관리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다음 일정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date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96621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고객 주요 니즈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고객 유형 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보안모드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주요 결정권자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663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전략 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text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>
                          <a:latin typeface="Paperlogy 4 Regular" pitchFamily="2" charset="-127"/>
                          <a:ea typeface="Paperlogy 4 Regular" pitchFamily="2" charset="-127"/>
                        </a:rPr>
                        <a:t>리텐션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인지 → 관심 → 검토 → 구매 결정 → </a:t>
                      </a:r>
                      <a:r>
                        <a:rPr lang="ko-KR" altLang="en-US" sz="1000" dirty="0" err="1">
                          <a:latin typeface="Paperlogy 4 Regular" pitchFamily="2" charset="-127"/>
                          <a:ea typeface="Paperlogy 4 Regular" pitchFamily="2" charset="-127"/>
                        </a:rPr>
                        <a:t>온보딩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→ 활용 → 재계약 → 확장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반응도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무지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무념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감동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적극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3061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1332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266381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AA7B89C-01E9-DB3C-28AA-8881AA128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5108918"/>
              </p:ext>
            </p:extLst>
          </p:nvPr>
        </p:nvGraphicFramePr>
        <p:xfrm>
          <a:off x="838200" y="4558193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03758203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0851850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49627345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013138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76240929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224512638"/>
                    </a:ext>
                  </a:extLst>
                </a:gridCol>
              </a:tblGrid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고객 관리 전략 </a:t>
                      </a:r>
                      <a:r>
                        <a:rPr lang="en-US" altLang="ko-KR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(1)</a:t>
                      </a:r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832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9520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15542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9888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A20B0-2128-BEF8-C8BA-6B7B086CA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 dirty="0"/>
              <a:t>고객사 마스터 </a:t>
            </a:r>
            <a:r>
              <a:rPr kumimoji="1" lang="en-US" altLang="ko-KR" dirty="0"/>
              <a:t>–</a:t>
            </a:r>
            <a:r>
              <a:rPr kumimoji="1" lang="ko-KR" altLang="en-US" dirty="0"/>
              <a:t> 프로젝트 관리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D0616BA-56FC-D9E1-53DD-45514F878B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210412"/>
              </p:ext>
            </p:extLst>
          </p:nvPr>
        </p:nvGraphicFramePr>
        <p:xfrm>
          <a:off x="838200" y="1437640"/>
          <a:ext cx="10515600" cy="199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7354576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28948089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9463579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9348678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3583046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640207571"/>
                    </a:ext>
                  </a:extLst>
                </a:gridCol>
              </a:tblGrid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프로젝트 정보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(n)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&lt;-&gt;</a:t>
                      </a:r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업체코드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741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감축 사업 프로젝트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이우진 농가 외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4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개 농가의 히트펌프를 이용한 온실가스 배출 감축사업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등록고유번호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R-2020-KR-03-000528</a:t>
                      </a:r>
                      <a:endParaRPr lang="ko-KR" altLang="en-US" sz="10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사업 등록일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2020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년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10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월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21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911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인증유효기간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2017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년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3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월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17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일</a:t>
                      </a:r>
                      <a:b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~</a:t>
                      </a:r>
                      <a:b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2027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년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3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월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16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일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(10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년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고정형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  <a:endParaRPr lang="ko-KR" altLang="en-US" sz="10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모니터링 기간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2017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년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3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월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17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일</a:t>
                      </a:r>
                      <a:b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~ </a:t>
                      </a:r>
                      <a:b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2021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년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9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월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30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Paperlogy 4 Regular" pitchFamily="2" charset="-127"/>
                          <a:ea typeface="Paperlogy 4 Regular" pitchFamily="2" charset="-127"/>
                        </a:rPr>
                        <a:t>모니터링 주기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15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년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/10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년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매년 </a:t>
                      </a:r>
                      <a:r>
                        <a:rPr lang="en-US" altLang="ko-KR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lang="ko-KR" altLang="en-US" sz="1000" dirty="0">
                          <a:latin typeface="Paperlogy 4 Regular" pitchFamily="2" charset="-127"/>
                          <a:ea typeface="Paperlogy 4 Regular" pitchFamily="2" charset="-127"/>
                        </a:rPr>
                        <a:t> 매월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811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96621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956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17FB93-E183-0628-3B17-A57CA0CCA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ko-KR" altLang="en-US" dirty="0"/>
              <a:t>고객 관리 이력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D4F360-7B42-4B63-C932-6EE547B67E4A}"/>
              </a:ext>
            </a:extLst>
          </p:cNvPr>
          <p:cNvSpPr txBox="1"/>
          <p:nvPr/>
        </p:nvSpPr>
        <p:spPr>
          <a:xfrm>
            <a:off x="838199" y="1127252"/>
            <a:ext cx="105155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고객 대응 창구를 단일화하고 이슈의 처리 상태 추적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684757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FDD4F-69CB-B69D-268E-B93354EBD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ko-KR" altLang="en-US" dirty="0"/>
              <a:t>고객 관련 문서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886A22-124D-CF90-AAC0-170A53DEECB2}"/>
              </a:ext>
            </a:extLst>
          </p:cNvPr>
          <p:cNvSpPr txBox="1"/>
          <p:nvPr/>
        </p:nvSpPr>
        <p:spPr>
          <a:xfrm>
            <a:off x="838199" y="1127252"/>
            <a:ext cx="105155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시스템 접속 시 노출되는 메인 화면으로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핵심 지표와 개인별 당일 업무 현황 파악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252652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A2FE30-F65C-0F2D-C3A3-92B43571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ko-KR" altLang="en-US" dirty="0"/>
              <a:t>고객 대응 전략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D84A1A-4DE8-DC00-0F00-FD84C16B98C5}"/>
              </a:ext>
            </a:extLst>
          </p:cNvPr>
          <p:cNvSpPr txBox="1"/>
          <p:nvPr/>
        </p:nvSpPr>
        <p:spPr>
          <a:xfrm>
            <a:off x="838199" y="1127252"/>
            <a:ext cx="105155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시스템 접속 시 노출되는 메인 화면으로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dirty="0">
                <a:effectLst/>
                <a:latin typeface="Paperlogy 4 Regular" pitchFamily="2" charset="-127"/>
                <a:ea typeface="Paperlogy 4 Regular" pitchFamily="2" charset="-127"/>
              </a:rPr>
              <a:t>핵심 지표와 개인별 당일 업무 현황 파악</a:t>
            </a:r>
            <a:r>
              <a:rPr lang="en-US" altLang="ko-KR" sz="1400" dirty="0">
                <a:effectLst/>
                <a:latin typeface="Paperlogy 4 Regular" pitchFamily="2" charset="-127"/>
                <a:ea typeface="Paperlogy 4 Regular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86544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CC2B95-94F5-6377-CBFB-8A1F576EB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00394D-8046-8C7B-C44F-FB114781FC4A}"/>
              </a:ext>
            </a:extLst>
          </p:cNvPr>
          <p:cNvSpPr txBox="1"/>
          <p:nvPr/>
        </p:nvSpPr>
        <p:spPr>
          <a:xfrm>
            <a:off x="3281505" y="2899602"/>
            <a:ext cx="18821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4400" b="1" dirty="0">
                <a:solidFill>
                  <a:srgbClr val="C00000"/>
                </a:solidFill>
                <a:latin typeface="Paperlogy 8 ExtraBold" pitchFamily="2" charset="-127"/>
                <a:ea typeface="Paperlogy 8 ExtraBold" pitchFamily="2" charset="-127"/>
              </a:rPr>
              <a:t>CMS</a:t>
            </a:r>
            <a:endParaRPr kumimoji="1" lang="ko-KR" altLang="en-US" sz="4400" b="1" dirty="0">
              <a:solidFill>
                <a:srgbClr val="C00000"/>
              </a:solidFill>
              <a:latin typeface="Paperlogy 8 ExtraBold" pitchFamily="2" charset="-127"/>
              <a:ea typeface="Paperlogy 8 ExtraBold" pitchFamily="2" charset="-127"/>
            </a:endParaRPr>
          </a:p>
        </p:txBody>
      </p:sp>
      <p:pic>
        <p:nvPicPr>
          <p:cNvPr id="29" name="그림 28" descr="폰트, 그래픽, 스크린샷, 그래픽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00C2DA-0924-8A9D-9745-B03780594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305" y="2776323"/>
            <a:ext cx="23622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351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6311</TotalTime>
  <Words>3889</Words>
  <Application>Microsoft Macintosh PowerPoint</Application>
  <PresentationFormat>와이드스크린</PresentationFormat>
  <Paragraphs>775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6" baseType="lpstr">
      <vt:lpstr>Paperlogy 4 Regular</vt:lpstr>
      <vt:lpstr>Paperlogy 8 ExtraBold</vt:lpstr>
      <vt:lpstr>Arial</vt:lpstr>
      <vt:lpstr>Helvetica</vt:lpstr>
      <vt:lpstr>Wingdings</vt:lpstr>
      <vt:lpstr>Office 테마</vt:lpstr>
      <vt:lpstr>Hooxi - CMS</vt:lpstr>
      <vt:lpstr>PowerPoint 프레젠테이션</vt:lpstr>
      <vt:lpstr>고객사 대시 보드</vt:lpstr>
      <vt:lpstr>고객사 마스터 – 데이터베이스 스키마 정의</vt:lpstr>
      <vt:lpstr>고객사 마스터 – (tb_client)</vt:lpstr>
      <vt:lpstr>통합 자산 및 연동 마스터 테이블 (tb_asset)</vt:lpstr>
      <vt:lpstr>컨택 및 활동 이력 (tb_activity_history)</vt:lpstr>
      <vt:lpstr>프로젝트 마스터 테이블 (tb_project)</vt:lpstr>
      <vt:lpstr>프로젝트 참여 고객사 매핑 테이블 (tb_project_client_map)</vt:lpstr>
      <vt:lpstr>고객사 및 자산 관리 API (Client &amp; Asset)</vt:lpstr>
      <vt:lpstr>컨택 이력 및 CRM 파이프라인 API (History)</vt:lpstr>
      <vt:lpstr>감축 사업 프로젝트 및 정산 API (Project)</vt:lpstr>
      <vt:lpstr>카카오톡 및 하이브리드 커뮤니케이션 API</vt:lpstr>
      <vt:lpstr>UI/UX 디자인 원칙 및 디바이스별 대응 전략</vt:lpstr>
      <vt:lpstr>모바일 (스마트폰) : 빠른 조회 및 현장 대응</vt:lpstr>
      <vt:lpstr>태블릿 (Tablet) : 현장 실사 및 미팅 지원</vt:lpstr>
      <vt:lpstr>데스크톱 (PC) : 풀 스케일 업무 및 관리</vt:lpstr>
      <vt:lpstr>통합 현황판</vt:lpstr>
      <vt:lpstr>통합 현황판 - 전국 관제 지도</vt:lpstr>
      <vt:lpstr>내 업무 보드 - 화면 기획 설계서</vt:lpstr>
      <vt:lpstr>내 업무 보드 - 화면 기획 설계서</vt:lpstr>
      <vt:lpstr>고객사 마스터</vt:lpstr>
      <vt:lpstr>자산 및 연동 현황</vt:lpstr>
      <vt:lpstr>상담 관제</vt:lpstr>
      <vt:lpstr>영업 활동 이력</vt:lpstr>
      <vt:lpstr>감축 사업 관리</vt:lpstr>
      <vt:lpstr>고객사별 정산 현황</vt:lpstr>
      <vt:lpstr>PowerPoint 프레젠테이션</vt:lpstr>
      <vt:lpstr>PowerPoint 프레젠테이션</vt:lpstr>
      <vt:lpstr>PowerPoint 프레젠테이션</vt:lpstr>
      <vt:lpstr>대시보드</vt:lpstr>
      <vt:lpstr>PowerPoint 프레젠테이션</vt:lpstr>
      <vt:lpstr>고객사 마스터 – 메인 페이지</vt:lpstr>
      <vt:lpstr>고객사 마스터 – 등록 페이지</vt:lpstr>
      <vt:lpstr>고객사 마스터 – 활동 및 이력 기록</vt:lpstr>
      <vt:lpstr>고객사 마스터 – 프로젝트 관리</vt:lpstr>
      <vt:lpstr>고객 관리 이력</vt:lpstr>
      <vt:lpstr>고객 관련 문서</vt:lpstr>
      <vt:lpstr>고객 대응 전략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Song Seung Heon</dc:creator>
  <cp:lastModifiedBy>Song Seung Heon</cp:lastModifiedBy>
  <cp:revision>26</cp:revision>
  <cp:lastPrinted>2026-07-06T04:31:54Z</cp:lastPrinted>
  <dcterms:created xsi:type="dcterms:W3CDTF">2026-07-02T00:46:14Z</dcterms:created>
  <dcterms:modified xsi:type="dcterms:W3CDTF">2026-07-13T05:21:59Z</dcterms:modified>
</cp:coreProperties>
</file>