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5" r:id="rId6"/>
    <p:sldId id="264" r:id="rId7"/>
    <p:sldId id="266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91"/>
    <p:restoredTop sz="94659"/>
  </p:normalViewPr>
  <p:slideViewPr>
    <p:cSldViewPr snapToGrid="0">
      <p:cViewPr>
        <p:scale>
          <a:sx n="120" d="100"/>
          <a:sy n="120" d="100"/>
        </p:scale>
        <p:origin x="19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1E5B7-483A-CBE5-440E-633255AA3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45B504-026E-0A71-C9D5-2485073A9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DCA3E-C442-CCA2-BBCD-511D4FAD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11DD-5E79-8F4A-824C-00A619B92E4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4BCE4-77C5-96AA-B570-FA7890E3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645CC-2D99-0806-6F2D-A7C2F65B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C8CA-BBAD-1545-9F98-4A999B3B9F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127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5B88F-5C33-3E70-7104-1EC1C990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8D6F6-BD2C-464E-88C1-840E6E14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11DD-5E79-8F4A-824C-00A619B92E4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CD170-CB0D-2E02-3C8E-8A0D51B5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20A206-A815-02EC-943A-5D85BCC3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0C8CA-BBAD-1545-9F98-4A999B3B9F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637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E4499A-71A4-2C9E-DDB0-3975AB70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87FA2-F01C-61CA-BEF5-8DFC25FAC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fld id="{846011DD-5E79-8F4A-824C-00A619B92E4E}" type="datetimeFigureOut">
              <a:rPr kumimoji="1" lang="ko-KR" altLang="en-US" smtClean="0"/>
              <a:pPr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8681BD-087D-0D16-6E10-D280C9FD2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18CC5-5A27-732D-29B0-F6496580E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fld id="{32B0C8CA-BBAD-1545-9F98-4A999B3B9FF4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856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Paperlogy 4 Regular" pitchFamily="2" charset="-127"/>
          <a:ea typeface="Paperlogy 4 Regular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D7940-D713-8F82-3741-7C98A33E3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kumimoji="1" lang="en-US" altLang="ko-KR" dirty="0" err="1"/>
              <a:t>Hooxi</a:t>
            </a:r>
            <a:r>
              <a:rPr kumimoji="1" lang="en-US" altLang="ko-KR" dirty="0"/>
              <a:t> - CMS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656369-1495-0828-8C33-AFD462BD0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kumimoji="1" lang="ko-KR" altLang="en-US" dirty="0" err="1">
                <a:latin typeface="Paperlogy 4 Regular" pitchFamily="2" charset="-127"/>
                <a:ea typeface="Paperlogy 4 Regular" pitchFamily="2" charset="-127"/>
              </a:rPr>
              <a:t>운수사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</a:rPr>
              <a:t> 고객관리를 위한 툴로 관련된 데이터 처리만 진행 한다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</a:rPr>
              <a:t>개발실에서 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</a:rPr>
              <a:t>DB </a:t>
            </a:r>
            <a:r>
              <a:rPr kumimoji="1" lang="ko-KR" altLang="en-US" dirty="0" err="1">
                <a:latin typeface="Paperlogy 4 Regular" pitchFamily="2" charset="-127"/>
                <a:ea typeface="Paperlogy 4 Regular" pitchFamily="2" charset="-127"/>
              </a:rPr>
              <a:t>를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</a:rPr>
              <a:t> 가져가서 차후 고도화 가능할 수 있게 한다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</a:rPr>
              <a:t>고객사 영업 관리 현황과 이슈 사항에 중점을 둔다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</a:rPr>
              <a:t>.</a:t>
            </a:r>
            <a:endParaRPr kumimoji="1" lang="ko-KR" altLang="en-US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288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6B599-005D-C201-C36B-B458DB71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F16038-4FF6-21A2-C714-77A94E85E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877480"/>
              </p:ext>
            </p:extLst>
          </p:nvPr>
        </p:nvGraphicFramePr>
        <p:xfrm>
          <a:off x="838199" y="154900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304075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734069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30837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4051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6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74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080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4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29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540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87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277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32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29259-96DD-D355-10DB-C8665CAC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고객사 대시 보드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FA7CFA-F3EA-ECC5-5EAE-D2177CF9EC7C}"/>
              </a:ext>
            </a:extLst>
          </p:cNvPr>
          <p:cNvSpPr txBox="1"/>
          <p:nvPr/>
        </p:nvSpPr>
        <p:spPr>
          <a:xfrm>
            <a:off x="838199" y="1127252"/>
            <a:ext cx="10515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시스템 접속 시 노출되는 메인 화면으로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핵심 지표와 개인별 당일 업무 현황 파악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56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51E49-28C8-3F40-B7CD-5166A176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고객사 마스터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메인 페이지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EEEAD-A061-E0C6-1AF6-8F4856E18558}"/>
              </a:ext>
            </a:extLst>
          </p:cNvPr>
          <p:cNvSpPr txBox="1"/>
          <p:nvPr/>
        </p:nvSpPr>
        <p:spPr>
          <a:xfrm>
            <a:off x="838199" y="1127252"/>
            <a:ext cx="10515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고객 정보와 설비 제원을 중앙화하고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조건에 맞게 필터링 조회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D352A-7512-A6B0-7D9C-4CD9510245D3}"/>
              </a:ext>
            </a:extLst>
          </p:cNvPr>
          <p:cNvSpPr txBox="1"/>
          <p:nvPr/>
        </p:nvSpPr>
        <p:spPr>
          <a:xfrm>
            <a:off x="838199" y="2222205"/>
            <a:ext cx="3536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고객사 리스트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운수사</a:t>
            </a:r>
            <a:r>
              <a:rPr kumimoji="1" lang="en-US" altLang="ko-KR" dirty="0"/>
              <a:t>,</a:t>
            </a:r>
            <a:r>
              <a:rPr kumimoji="1" lang="ko-KR" altLang="en-US" dirty="0"/>
              <a:t> 건물</a:t>
            </a:r>
            <a:r>
              <a:rPr kumimoji="1" lang="en-US" altLang="ko-KR" dirty="0"/>
              <a:t>,</a:t>
            </a:r>
            <a:r>
              <a:rPr kumimoji="1" lang="ko-KR" altLang="en-US" dirty="0"/>
              <a:t> 등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91329B0-D7A0-7A51-F1E4-E60C57A37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186128"/>
              </p:ext>
            </p:extLst>
          </p:nvPr>
        </p:nvGraphicFramePr>
        <p:xfrm>
          <a:off x="838199" y="3153944"/>
          <a:ext cx="81280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2974377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663076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857325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541806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89482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4233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고객사명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지역구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계약여부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계약유형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0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운수사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서울시 은평구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2021.06.01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직접 계약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47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대도운수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택시조합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-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조합 일괄 계약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7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건물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07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IKEA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물류사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경기도 광명시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꽃님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2024.01.10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직접 계약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095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20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596F-7CD4-B562-4BF5-42D32607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693F8-B712-BACF-DC5E-7D375C6C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고객사 마스터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등록 페이지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C7602-49F7-6DAD-2F56-729AFECA8650}"/>
              </a:ext>
            </a:extLst>
          </p:cNvPr>
          <p:cNvSpPr txBox="1"/>
          <p:nvPr/>
        </p:nvSpPr>
        <p:spPr>
          <a:xfrm>
            <a:off x="838199" y="1127252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등록 페이지는 엑셀 형태에서 직접 등록 및 수정 가능하거나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lang="ko-KR" altLang="en-US" sz="1400" dirty="0">
                <a:latin typeface="Paperlogy 4 Regular" pitchFamily="2" charset="-127"/>
                <a:ea typeface="Paperlogy 4 Regular" pitchFamily="2" charset="-127"/>
              </a:rPr>
              <a:t> 양식 엑셀을 수정해서 업로드 시 수정이 가능하게 하면 업무 편의상 좋다</a:t>
            </a:r>
            <a:r>
              <a:rPr lang="en-US" altLang="ko-KR" sz="1400" dirty="0"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현재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 초기 개발에서는 그리드 형태에서 직접 등록 수정만 가능하게 하고 차후 고도화에서 엑셀 업로드 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기존 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DB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 업데이트 처리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 신규 처리 등 논리화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10B17D3-A006-A56B-5EFA-C64D07BAA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973107"/>
              </p:ext>
            </p:extLst>
          </p:nvPr>
        </p:nvGraphicFramePr>
        <p:xfrm>
          <a:off x="838198" y="1923107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2974377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663076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857325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541806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289482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74233970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고객사 기본 정보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 (1)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0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업체명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사업자 등록번호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대표자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47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지역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권역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select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소속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조합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주소지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address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87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대표자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대표 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phone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대표 이메일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email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070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담당자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담당 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phone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담당 이메일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email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09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관리 시스템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select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ID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보안모드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PS 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보안모드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344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사업자등록증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계약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계약 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date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80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주요 니즈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text(L)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유형 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보안모드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text(L)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주요 결정권자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314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10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8C334-B46C-34F8-63FE-CDD192F1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고객사 마스터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활동 및 이력 기록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22EE6CF-941E-2D1C-7BF3-607F02C5E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4889"/>
              </p:ext>
            </p:extLst>
          </p:nvPr>
        </p:nvGraphicFramePr>
        <p:xfrm>
          <a:off x="838200" y="1272731"/>
          <a:ext cx="10515600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354576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8948089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9463579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9348678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358304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4020757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고객 관리 정보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41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컨텍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 일시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2026.01.01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02:10</a:t>
                      </a:r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컨택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전화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메일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카카오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미팅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컨택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내부 담당자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담당자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이외 참석자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81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주요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이슈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다음 일정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date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662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주요 니즈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유형 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보안모드</a:t>
                      </a:r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주요 결정권자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66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전략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text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리텐션</a:t>
                      </a: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인지 → 관심 → 검토 → 구매 결정 → </a:t>
                      </a:r>
                      <a:r>
                        <a:rPr lang="ko-KR" altLang="en-US" sz="1000" dirty="0" err="1">
                          <a:latin typeface="Paperlogy 4 Regular" pitchFamily="2" charset="-127"/>
                          <a:ea typeface="Paperlogy 4 Regular" pitchFamily="2" charset="-127"/>
                        </a:rPr>
                        <a:t>온보딩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→ 활용 → 재계약 → 확장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반응도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무지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무념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감동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적극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06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33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6638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A7B89C-01E9-DB3C-28AA-8881AA128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5496"/>
              </p:ext>
            </p:extLst>
          </p:nvPr>
        </p:nvGraphicFramePr>
        <p:xfrm>
          <a:off x="838200" y="4558193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375820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08518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62734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013138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624092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2451263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고객 관리 진행도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83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52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1554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88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A20B0-2128-BEF8-C8BA-6B7B086C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고객사 마스터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프로젝트 관리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D0616BA-56FC-D9E1-53DD-45514F878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52926"/>
              </p:ext>
            </p:extLst>
          </p:nvPr>
        </p:nvGraphicFramePr>
        <p:xfrm>
          <a:off x="838200" y="1437640"/>
          <a:ext cx="10515600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354576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8948089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9463579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9348678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358304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4020757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프로젝트 정보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Paperlogy 4 Regular" pitchFamily="2" charset="-127"/>
                          <a:ea typeface="Paperlogy 4 Regular" pitchFamily="2" charset="-127"/>
                        </a:rPr>
                        <a:t>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41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감축 사업 프로젝트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이우진 농가 외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4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개 농가의 히트펌프를 이용한 온실가스 배출 감축사업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등록고유번호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R-2020-KR-03-000528</a:t>
                      </a:r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사업 등록일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2020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10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월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21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인증유효기간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2017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3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월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17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일</a:t>
                      </a:r>
                      <a:b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~</a:t>
                      </a:r>
                      <a:b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2027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3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월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16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일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(10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고정형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)</a:t>
                      </a:r>
                      <a:endParaRPr lang="ko-KR" altLang="en-US" sz="10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모니터링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2017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3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월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17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일</a:t>
                      </a:r>
                      <a:b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~ </a:t>
                      </a:r>
                      <a:b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</a:b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2021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9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월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30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Paperlogy 4 Regular" pitchFamily="2" charset="-127"/>
                          <a:ea typeface="Paperlogy 4 Regular" pitchFamily="2" charset="-127"/>
                        </a:rPr>
                        <a:t>모니터링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15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/10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년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/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매년 </a:t>
                      </a:r>
                      <a:r>
                        <a:rPr lang="en-US" altLang="ko-KR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/</a:t>
                      </a:r>
                      <a:r>
                        <a:rPr lang="ko-KR" altLang="en-US" sz="1000" dirty="0">
                          <a:latin typeface="Paperlogy 4 Regular" pitchFamily="2" charset="-127"/>
                          <a:ea typeface="Paperlogy 4 Regular" pitchFamily="2" charset="-127"/>
                        </a:rPr>
                        <a:t> 매월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811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Paperlogy 4 Regular" pitchFamily="2" charset="-127"/>
                        <a:ea typeface="Paperlogy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662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9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7FB93-E183-0628-3B17-A57CA0CC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고객 관리 이력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4F360-7B42-4B63-C932-6EE547B67E4A}"/>
              </a:ext>
            </a:extLst>
          </p:cNvPr>
          <p:cNvSpPr txBox="1"/>
          <p:nvPr/>
        </p:nvSpPr>
        <p:spPr>
          <a:xfrm>
            <a:off x="838199" y="1127252"/>
            <a:ext cx="10515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고객 대응 창구를 단일화하고 이슈의 처리 상태 추적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47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FDD4F-69CB-B69D-268E-B93354EB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고객 관련 문서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86A22-124D-CF90-AAC0-170A53DEECB2}"/>
              </a:ext>
            </a:extLst>
          </p:cNvPr>
          <p:cNvSpPr txBox="1"/>
          <p:nvPr/>
        </p:nvSpPr>
        <p:spPr>
          <a:xfrm>
            <a:off x="838199" y="1127252"/>
            <a:ext cx="10515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시스템 접속 시 노출되는 메인 화면으로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핵심 지표와 개인별 당일 업무 현황 파악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526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2FE30-F65C-0F2D-C3A3-92B43571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고객 대응 전략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D84A1A-4DE8-DC00-0F00-FD84C16B98C5}"/>
              </a:ext>
            </a:extLst>
          </p:cNvPr>
          <p:cNvSpPr txBox="1"/>
          <p:nvPr/>
        </p:nvSpPr>
        <p:spPr>
          <a:xfrm>
            <a:off x="838199" y="1127252"/>
            <a:ext cx="10515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시스템 접속 시 노출되는 메인 화면으로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핵심 지표와 개인별 당일 업무 현황 파악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65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A5B5-C082-FDE2-E588-6ACA7C30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F8056-4B77-B677-23EC-AC5DB103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대시보드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AD8D1D-3265-9E5E-D3F0-E74014780C0F}"/>
              </a:ext>
            </a:extLst>
          </p:cNvPr>
          <p:cNvSpPr/>
          <p:nvPr/>
        </p:nvSpPr>
        <p:spPr>
          <a:xfrm>
            <a:off x="2149208" y="2527347"/>
            <a:ext cx="1541442" cy="33821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B35D42-9CC1-8A7F-BDC8-E0E8CD925D7F}"/>
              </a:ext>
            </a:extLst>
          </p:cNvPr>
          <p:cNvSpPr/>
          <p:nvPr/>
        </p:nvSpPr>
        <p:spPr>
          <a:xfrm>
            <a:off x="3690650" y="1998538"/>
            <a:ext cx="6533001" cy="5288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703CBA-C895-54E2-9A45-0964C34E15E0}"/>
              </a:ext>
            </a:extLst>
          </p:cNvPr>
          <p:cNvSpPr/>
          <p:nvPr/>
        </p:nvSpPr>
        <p:spPr>
          <a:xfrm>
            <a:off x="2149208" y="5909525"/>
            <a:ext cx="1541442" cy="31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23D482-EC99-EAB9-766E-2F177DC04963}"/>
              </a:ext>
            </a:extLst>
          </p:cNvPr>
          <p:cNvSpPr/>
          <p:nvPr/>
        </p:nvSpPr>
        <p:spPr>
          <a:xfrm>
            <a:off x="3690649" y="2527347"/>
            <a:ext cx="6533001" cy="3699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EE0D991-08E3-69BE-2F75-9D7D40A79854}"/>
              </a:ext>
            </a:extLst>
          </p:cNvPr>
          <p:cNvSpPr/>
          <p:nvPr/>
        </p:nvSpPr>
        <p:spPr>
          <a:xfrm>
            <a:off x="3822852" y="2114214"/>
            <a:ext cx="2423711" cy="297456"/>
          </a:xfrm>
          <a:prstGeom prst="roundRect">
            <a:avLst>
              <a:gd name="adj" fmla="val 38625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고객사명</a:t>
            </a:r>
            <a:r>
              <a:rPr kumimoji="1" lang="en-US" altLang="ko-KR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kumimoji="1" lang="ko-KR" altLang="en-US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연락처</a:t>
            </a:r>
            <a:r>
              <a:rPr kumimoji="1" lang="en-US" altLang="ko-KR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kumimoji="1" lang="ko-KR" altLang="en-US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사업자번호 검색 </a:t>
            </a:r>
            <a:r>
              <a:rPr kumimoji="1" lang="en-US" altLang="ko-KR" sz="1100" dirty="0">
                <a:solidFill>
                  <a:schemeClr val="bg1">
                    <a:lumMod val="65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…</a:t>
            </a:r>
            <a:endParaRPr kumimoji="1" lang="ko-KR" altLang="en-US" sz="1100" dirty="0">
              <a:solidFill>
                <a:schemeClr val="bg1">
                  <a:lumMod val="65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0C26AEA-F329-D941-23DB-249B32E6B136}"/>
              </a:ext>
            </a:extLst>
          </p:cNvPr>
          <p:cNvSpPr/>
          <p:nvPr/>
        </p:nvSpPr>
        <p:spPr>
          <a:xfrm>
            <a:off x="9066882" y="2114214"/>
            <a:ext cx="1064045" cy="29745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latin typeface="Paperlogy 4 Regular" pitchFamily="2" charset="-127"/>
                <a:ea typeface="Paperlogy 4 Regular" pitchFamily="2" charset="-127"/>
              </a:rPr>
              <a:t>접속 담당자명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D9BD856-9B63-085C-C83B-DCB5C2FA98FF}"/>
              </a:ext>
            </a:extLst>
          </p:cNvPr>
          <p:cNvSpPr/>
          <p:nvPr/>
        </p:nvSpPr>
        <p:spPr>
          <a:xfrm>
            <a:off x="7523144" y="2114214"/>
            <a:ext cx="773017" cy="29745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latin typeface="Paperlogy 4 Regular" pitchFamily="2" charset="-127"/>
                <a:ea typeface="Paperlogy 4 Regular" pitchFamily="2" charset="-127"/>
              </a:rPr>
              <a:t>보안모드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7C92451-D113-B421-8A07-3113D823D97D}"/>
              </a:ext>
            </a:extLst>
          </p:cNvPr>
          <p:cNvSpPr/>
          <p:nvPr/>
        </p:nvSpPr>
        <p:spPr>
          <a:xfrm>
            <a:off x="8296162" y="2161036"/>
            <a:ext cx="332582" cy="2038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FD2128A-3FD1-8779-1BAE-A865C5F2D51F}"/>
              </a:ext>
            </a:extLst>
          </p:cNvPr>
          <p:cNvSpPr/>
          <p:nvPr/>
        </p:nvSpPr>
        <p:spPr>
          <a:xfrm>
            <a:off x="8428143" y="2161036"/>
            <a:ext cx="203201" cy="2038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E64452-91EC-7E14-F50E-4B9C61559539}"/>
              </a:ext>
            </a:extLst>
          </p:cNvPr>
          <p:cNvSpPr/>
          <p:nvPr/>
        </p:nvSpPr>
        <p:spPr>
          <a:xfrm>
            <a:off x="2149208" y="1998538"/>
            <a:ext cx="1541442" cy="5288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10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7090B-5617-D615-244D-DD638A6F482B}"/>
              </a:ext>
            </a:extLst>
          </p:cNvPr>
          <p:cNvSpPr txBox="1"/>
          <p:nvPr/>
        </p:nvSpPr>
        <p:spPr>
          <a:xfrm>
            <a:off x="6578096" y="1472875"/>
            <a:ext cx="2897437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ko-KR" altLang="en-US" sz="800" dirty="0" err="1">
                <a:latin typeface="Paperlogy 4 Regular" pitchFamily="2" charset="-127"/>
                <a:ea typeface="Paperlogy 4 Regular" pitchFamily="2" charset="-127"/>
              </a:rPr>
              <a:t>보안모드란</a:t>
            </a:r>
            <a:r>
              <a:rPr kumimoji="1" lang="en-US" altLang="ko-KR" sz="800" dirty="0">
                <a:latin typeface="Paperlogy 4 Regular" pitchFamily="2" charset="-127"/>
                <a:ea typeface="Paperlogy 4 Regular" pitchFamily="2" charset="-127"/>
              </a:rPr>
              <a:t>?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</a:t>
            </a:r>
            <a:endParaRPr kumimoji="1" lang="en-US" altLang="ko-KR" sz="800" dirty="0">
              <a:latin typeface="Paperlogy 4 Regular" pitchFamily="2" charset="-127"/>
              <a:ea typeface="Paperlogy 4 Regular" pitchFamily="2" charset="-127"/>
            </a:endParaRPr>
          </a:p>
          <a:p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민감한 금액</a:t>
            </a:r>
            <a:r>
              <a:rPr kumimoji="1" lang="en-US" altLang="ko-KR" sz="800" dirty="0"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지분율</a:t>
            </a:r>
            <a:r>
              <a:rPr kumimoji="1" lang="en-US" altLang="ko-KR" sz="800" dirty="0"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배출량 등에 대해 외부인이 화면을 통해 </a:t>
            </a:r>
            <a:r>
              <a:rPr kumimoji="1" lang="ko-KR" altLang="en-US" sz="800" dirty="0" err="1">
                <a:latin typeface="Paperlogy 4 Regular" pitchFamily="2" charset="-127"/>
                <a:ea typeface="Paperlogy 4 Regular" pitchFamily="2" charset="-127"/>
              </a:rPr>
              <a:t>알수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없도록 기본 필수 모드로 설정</a:t>
            </a:r>
            <a:r>
              <a:rPr kumimoji="1" lang="en-US" altLang="ko-KR" sz="800" dirty="0">
                <a:latin typeface="Paperlogy 4 Regular" pitchFamily="2" charset="-127"/>
                <a:ea typeface="Paperlogy 4 Regular" pitchFamily="2" charset="-127"/>
              </a:rPr>
              <a:t>,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보고 싶을 클릭 뷰 한 후 </a:t>
            </a:r>
            <a:r>
              <a:rPr kumimoji="1" lang="en-US" altLang="ko-KR" sz="800" dirty="0">
                <a:latin typeface="Paperlogy 4 Regular" pitchFamily="2" charset="-127"/>
                <a:ea typeface="Paperlogy 4 Regular" pitchFamily="2" charset="-127"/>
              </a:rPr>
              <a:t>5</a:t>
            </a:r>
            <a:r>
              <a:rPr kumimoji="1" lang="ko-KR" altLang="en-US" sz="800" dirty="0" err="1">
                <a:latin typeface="Paperlogy 4 Regular" pitchFamily="2" charset="-127"/>
                <a:ea typeface="Paperlogy 4 Regular" pitchFamily="2" charset="-127"/>
              </a:rPr>
              <a:t>초후</a:t>
            </a:r>
            <a:r>
              <a:rPr kumimoji="1" lang="ko-KR" altLang="en-US" sz="800" dirty="0">
                <a:latin typeface="Paperlogy 4 Regular" pitchFamily="2" charset="-127"/>
                <a:ea typeface="Paperlogy 4 Regular" pitchFamily="2" charset="-127"/>
              </a:rPr>
              <a:t> 자동 숨김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BDC85DD-5446-EE4C-ECCF-772847C8AC5C}"/>
              </a:ext>
            </a:extLst>
          </p:cNvPr>
          <p:cNvSpPr/>
          <p:nvPr/>
        </p:nvSpPr>
        <p:spPr>
          <a:xfrm>
            <a:off x="3822852" y="3952355"/>
            <a:ext cx="1733107" cy="2104851"/>
          </a:xfrm>
          <a:prstGeom prst="roundRect">
            <a:avLst>
              <a:gd name="adj" fmla="val 78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전국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지도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현황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4270843-1BFD-6DCD-D81F-D124BC51FB9A}"/>
              </a:ext>
            </a:extLst>
          </p:cNvPr>
          <p:cNvSpPr/>
          <p:nvPr/>
        </p:nvSpPr>
        <p:spPr>
          <a:xfrm>
            <a:off x="3822851" y="2755510"/>
            <a:ext cx="3067047" cy="1081168"/>
          </a:xfrm>
          <a:prstGeom prst="roundRect">
            <a:avLst>
              <a:gd name="adj" fmla="val 78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금일 고객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관리 일정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31718D3-2F17-F5D5-4F45-C74822823855}"/>
              </a:ext>
            </a:extLst>
          </p:cNvPr>
          <p:cNvSpPr/>
          <p:nvPr/>
        </p:nvSpPr>
        <p:spPr>
          <a:xfrm>
            <a:off x="6996219" y="2755510"/>
            <a:ext cx="3067047" cy="1081168"/>
          </a:xfrm>
          <a:prstGeom prst="roundRect">
            <a:avLst>
              <a:gd name="adj" fmla="val 78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고객사 주요 이슈 사항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69CF372-2408-EDE9-6507-A37252BB11FB}"/>
              </a:ext>
            </a:extLst>
          </p:cNvPr>
          <p:cNvSpPr/>
          <p:nvPr/>
        </p:nvSpPr>
        <p:spPr>
          <a:xfrm>
            <a:off x="8485336" y="5231219"/>
            <a:ext cx="1577930" cy="837132"/>
          </a:xfrm>
          <a:prstGeom prst="roundRect">
            <a:avLst>
              <a:gd name="adj" fmla="val 78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DB </a:t>
            </a: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백업 및 복구 현황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00F3B-B58C-8C82-827A-B280A09F0DBE}"/>
              </a:ext>
            </a:extLst>
          </p:cNvPr>
          <p:cNvSpPr txBox="1"/>
          <p:nvPr/>
        </p:nvSpPr>
        <p:spPr>
          <a:xfrm>
            <a:off x="2229234" y="290226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대시보드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B227A8-4510-8C53-0B26-42D96488ADE8}"/>
              </a:ext>
            </a:extLst>
          </p:cNvPr>
          <p:cNvSpPr txBox="1"/>
          <p:nvPr/>
        </p:nvSpPr>
        <p:spPr>
          <a:xfrm>
            <a:off x="2229234" y="3383525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고객사 마스터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11D244-FABC-413A-98D7-B7236F4C36D5}"/>
              </a:ext>
            </a:extLst>
          </p:cNvPr>
          <p:cNvSpPr txBox="1"/>
          <p:nvPr/>
        </p:nvSpPr>
        <p:spPr>
          <a:xfrm>
            <a:off x="2229234" y="3860461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고객 관리 이력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E8F6C-10AF-2A65-DD0C-E66FE5082698}"/>
              </a:ext>
            </a:extLst>
          </p:cNvPr>
          <p:cNvSpPr txBox="1"/>
          <p:nvPr/>
        </p:nvSpPr>
        <p:spPr>
          <a:xfrm>
            <a:off x="2229234" y="4338748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고객 관련 문서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D88AF1-4646-A49D-FBBA-11FEA9905B5B}"/>
              </a:ext>
            </a:extLst>
          </p:cNvPr>
          <p:cNvSpPr txBox="1"/>
          <p:nvPr/>
        </p:nvSpPr>
        <p:spPr>
          <a:xfrm>
            <a:off x="2237630" y="4817035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고객 대응 전략</a:t>
            </a:r>
          </a:p>
        </p:txBody>
      </p:sp>
    </p:spTree>
    <p:extLst>
      <p:ext uri="{BB962C8B-B14F-4D97-AF65-F5344CB8AC3E}">
        <p14:creationId xmlns:p14="http://schemas.microsoft.com/office/powerpoint/2010/main" val="1723984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529</Words>
  <Application>Microsoft Macintosh PowerPoint</Application>
  <PresentationFormat>와이드스크린</PresentationFormat>
  <Paragraphs>145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Paperlogy 4 Regular</vt:lpstr>
      <vt:lpstr>Arial</vt:lpstr>
      <vt:lpstr>Office 테마</vt:lpstr>
      <vt:lpstr>Hooxi - CMS</vt:lpstr>
      <vt:lpstr>PowerPoint 프레젠테이션</vt:lpstr>
      <vt:lpstr>고객사 대시 보드</vt:lpstr>
      <vt:lpstr>고객사 마스터 – 메인 페이지</vt:lpstr>
      <vt:lpstr>고객사 마스터 – 등록 페이지</vt:lpstr>
      <vt:lpstr>고객사 마스터 – 활동 및 이력 기록</vt:lpstr>
      <vt:lpstr>고객사 마스터 – 프로젝트 관리</vt:lpstr>
      <vt:lpstr>고객 관리 이력</vt:lpstr>
      <vt:lpstr>고객 관련 문서</vt:lpstr>
      <vt:lpstr>고객 대응 전략</vt:lpstr>
      <vt:lpstr>대시보드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 Seung Heon</dc:creator>
  <cp:lastModifiedBy>Song Seung Heon</cp:lastModifiedBy>
  <cp:revision>5</cp:revision>
  <dcterms:created xsi:type="dcterms:W3CDTF">2026-07-02T00:46:14Z</dcterms:created>
  <dcterms:modified xsi:type="dcterms:W3CDTF">2026-07-02T03:00:45Z</dcterms:modified>
</cp:coreProperties>
</file>